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Jump to the slide that answers the question asked; do not walk through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in one breath: the online product serves a buyer who can fund a UK fee and study alone; the franchise serves a buyer who can do neither. The price gap is an order of magnitude, so the segments do not overlap; if anything the franchise creates awareness of the Essex name that the online product can later convert among employers who sponsor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the Coventry question is asked. Say it plainly and once: Coventry is and remains the undergraduate partner; NIBM matches each award to the partner strongest in it; on ranking, research standing and programme profile, Essex is the fit for postgraduate cyber. If pressed on Coventry's own NCSC certification: certification is of the UK-delivered programme and does not automatically travel to a franchise for any university, so it was not the deciding variable; fit and standing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 sentences. Essex's provisional status beats three of the four local UK awards and trails Westminster; Kingston's certification lapses on 30 September 2026 unless renewed. What can be claimed for a franchise is for Essex to decide, and we will follow that decision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is real but thin: seven verified routes across six providers, four UK-awarded, one of them only seven months old. Enough to prove demand, not enough to saturate. An Essex franchise does not need to undercut anyone; it needs to justify a figure in the upper part of the band through the award, certification standing and supervised delivery. No fee for the NIBM programme is proposed in this deck; that depends on Essex's commercial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method is challenged: agree with the limits before they are stated, because they are on the slide. The value of the survey is direction, not forecast: zero downward moves on the UK award across 57 people, and seven independent senior voices describing the same gap. The next step, already planned, is a single fee-band question to the same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an open verification list is deliberate: it tells a due-diligence audience that the numbers they are seeing were checked, and that the ones still open are named rather than glossed. Every item here is also in the evidence repository with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0E4"/>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7A5230"/>
          </a:solidFill>
          <a:ln/>
        </p:spPr>
      </p:sp>
      <p:sp>
        <p:nvSpPr>
          <p:cNvPr id="3" name="Text 1"/>
          <p:cNvSpPr txBox="1"/>
          <p:nvPr/>
        </p:nvSpPr>
        <p:spPr>
          <a:xfrm>
            <a:off x="731520" y="1325880"/>
            <a:ext cx="7690104" cy="822960"/>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Appendix</a:t>
            </a:r>
            <a:endParaRPr lang="en-US" sz="3600" dirty="0"/>
          </a:p>
        </p:txBody>
      </p:sp>
      <p:sp>
        <p:nvSpPr>
          <p:cNvPr id="4" name="Text 2"/>
          <p:cNvSpPr txBox="1"/>
          <p:nvPr/>
        </p:nvSpPr>
        <p:spPr>
          <a:xfrm>
            <a:off x="731520" y="2103120"/>
            <a:ext cx="7690104" cy="457200"/>
          </a:xfrm>
          <a:prstGeom prst="rect">
            <a:avLst/>
          </a:prstGeom>
          <a:noFill/>
          <a:ln/>
        </p:spPr>
        <p:txBody>
          <a:bodyPr wrap="square" lIns="0" tIns="0" rIns="0" bIns="0" rtlCol="0" anchor="t"/>
          <a:lstStyle/>
          <a:p>
            <a:pPr indent="0" marL="0">
              <a:buNone/>
            </a:pPr>
            <a:r>
              <a:rPr lang="en-US" sz="1800" i="1" dirty="0">
                <a:solidFill>
                  <a:srgbClr val="595959"/>
                </a:solidFill>
                <a:latin typeface="Open Sans" pitchFamily="34" charset="0"/>
                <a:ea typeface="Open Sans" pitchFamily="34" charset="-122"/>
                <a:cs typeface="Open Sans" pitchFamily="34" charset="-120"/>
              </a:rPr>
              <a:t>MSc Cyber Security at NIBM: proposal to the University of Essex. Held for questions, not presented.</a:t>
            </a:r>
            <a:endParaRPr lang="en-US" sz="1800" dirty="0"/>
          </a:p>
        </p:txBody>
      </p:sp>
      <p:sp>
        <p:nvSpPr>
          <p:cNvPr id="5" name="Shape 3"/>
          <p:cNvSpPr/>
          <p:nvPr/>
        </p:nvSpPr>
        <p:spPr>
          <a:xfrm>
            <a:off x="731520" y="2788920"/>
            <a:ext cx="749808" cy="82296"/>
          </a:xfrm>
          <a:prstGeom prst="rect">
            <a:avLst/>
          </a:prstGeom>
          <a:solidFill>
            <a:srgbClr val="7A5230"/>
          </a:solidFill>
          <a:ln/>
        </p:spPr>
      </p:sp>
      <p:sp>
        <p:nvSpPr>
          <p:cNvPr id="6" name="Shape 4"/>
          <p:cNvSpPr/>
          <p:nvPr/>
        </p:nvSpPr>
        <p:spPr>
          <a:xfrm>
            <a:off x="1536192" y="2788920"/>
            <a:ext cx="384048" cy="82296"/>
          </a:xfrm>
          <a:prstGeom prst="rect">
            <a:avLst/>
          </a:prstGeom>
          <a:solidFill>
            <a:srgbClr val="EB5600"/>
          </a:solidFill>
          <a:ln/>
        </p:spPr>
      </p:sp>
      <p:sp>
        <p:nvSpPr>
          <p:cNvPr id="7" name="Text 5"/>
          <p:cNvSpPr txBox="1"/>
          <p:nvPr/>
        </p:nvSpPr>
        <p:spPr>
          <a:xfrm>
            <a:off x="731520" y="3063240"/>
            <a:ext cx="7680960" cy="1737360"/>
          </a:xfrm>
          <a:prstGeom prst="rect">
            <a:avLst/>
          </a:prstGeom>
          <a:noFill/>
          <a:ln/>
        </p:spPr>
        <p:txBody>
          <a:bodyPr wrap="square" lIns="0" tIns="0" rIns="0" bIns="0" rtlCol="0" anchor="t"/>
          <a:lstStyle/>
          <a:p>
            <a:pPr indent="0" marL="0">
              <a:buNone/>
            </a:pPr>
            <a:r>
              <a:rPr lang="en-US" sz="1300" dirty="0">
                <a:solidFill>
                  <a:srgbClr val="1A1A1A"/>
                </a:solidFill>
                <a:latin typeface="Open Sans" pitchFamily="34" charset="0"/>
                <a:ea typeface="Open Sans" pitchFamily="34" charset="-122"/>
                <a:cs typeface="Open Sans" pitchFamily="34" charset="-120"/>
              </a:rPr>
              <a:t>A1  Essex Online versus the franchise</a:t>
            </a:r>
            <a:endParaRPr lang="en-US" sz="1300" dirty="0"/>
          </a:p>
          <a:p>
            <a:pPr indent="0" marL="0">
              <a:buNone/>
            </a:pPr>
            <a:r>
              <a:rPr lang="en-US" sz="1300" dirty="0">
                <a:solidFill>
                  <a:srgbClr val="1A1A1A"/>
                </a:solidFill>
                <a:latin typeface="Open Sans" pitchFamily="34" charset="0"/>
                <a:ea typeface="Open Sans" pitchFamily="34" charset="-122"/>
                <a:cs typeface="Open Sans" pitchFamily="34" charset="-120"/>
              </a:rPr>
              <a:t>A2  Partnerships, and the choice of Essex</a:t>
            </a:r>
            <a:endParaRPr lang="en-US" sz="1300" dirty="0"/>
          </a:p>
          <a:p>
            <a:pPr indent="0" marL="0">
              <a:buNone/>
            </a:pPr>
            <a:r>
              <a:rPr lang="en-US" sz="1300" dirty="0">
                <a:solidFill>
                  <a:srgbClr val="1A1A1A"/>
                </a:solidFill>
                <a:latin typeface="Open Sans" pitchFamily="34" charset="0"/>
                <a:ea typeface="Open Sans" pitchFamily="34" charset="-122"/>
                <a:cs typeface="Open Sans" pitchFamily="34" charset="-120"/>
              </a:rPr>
              <a:t>A3  NCSC certification: what may be claimed</a:t>
            </a:r>
            <a:endParaRPr lang="en-US" sz="1300" dirty="0"/>
          </a:p>
          <a:p>
            <a:pPr indent="0" marL="0">
              <a:buNone/>
            </a:pPr>
            <a:r>
              <a:rPr lang="en-US" sz="1300" dirty="0">
                <a:solidFill>
                  <a:srgbClr val="1A1A1A"/>
                </a:solidFill>
                <a:latin typeface="Open Sans" pitchFamily="34" charset="0"/>
                <a:ea typeface="Open Sans" pitchFamily="34" charset="-122"/>
                <a:cs typeface="Open Sans" pitchFamily="34" charset="-120"/>
              </a:rPr>
              <a:t>A4  The local field and the fee band</a:t>
            </a:r>
            <a:endParaRPr lang="en-US" sz="1300" dirty="0"/>
          </a:p>
          <a:p>
            <a:pPr indent="0" marL="0">
              <a:buNone/>
            </a:pPr>
            <a:r>
              <a:rPr lang="en-US" sz="1300" dirty="0">
                <a:solidFill>
                  <a:srgbClr val="1A1A1A"/>
                </a:solidFill>
                <a:latin typeface="Open Sans" pitchFamily="34" charset="0"/>
                <a:ea typeface="Open Sans" pitchFamily="34" charset="-122"/>
                <a:cs typeface="Open Sans" pitchFamily="34" charset="-120"/>
              </a:rPr>
              <a:t>A5  Survey method, weighting and limitations</a:t>
            </a:r>
            <a:endParaRPr lang="en-US" sz="1300" dirty="0"/>
          </a:p>
          <a:p>
            <a:pPr indent="0" marL="0">
              <a:buNone/>
            </a:pPr>
            <a:r>
              <a:rPr lang="en-US" sz="1300" dirty="0">
                <a:solidFill>
                  <a:srgbClr val="1A1A1A"/>
                </a:solidFill>
                <a:latin typeface="Open Sans" pitchFamily="34" charset="0"/>
                <a:ea typeface="Open Sans" pitchFamily="34" charset="-122"/>
                <a:cs typeface="Open Sans" pitchFamily="34" charset="-120"/>
              </a:rPr>
              <a:t>A6  Verification status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A1  Essex Online versus the franchise</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APPENDIX - HELD FOR QUESTIONS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Appendix to the Essex proposal - September 2026   2</a:t>
            </a:r>
            <a:endParaRPr lang="en-US" sz="1100" dirty="0"/>
          </a:p>
        </p:txBody>
      </p:sp>
      <p:sp>
        <p:nvSpPr>
          <p:cNvPr id="8" name="Shape 6"/>
          <p:cNvSpPr/>
          <p:nvPr/>
        </p:nvSpPr>
        <p:spPr>
          <a:xfrm>
            <a:off x="411480" y="1353312"/>
            <a:ext cx="4133088" cy="402336"/>
          </a:xfrm>
          <a:prstGeom prst="rect">
            <a:avLst/>
          </a:prstGeom>
          <a:solidFill>
            <a:srgbClr val="7A5230"/>
          </a:solidFill>
          <a:ln/>
        </p:spPr>
      </p:sp>
      <p:sp>
        <p:nvSpPr>
          <p:cNvPr id="9" name="Text 7"/>
          <p:cNvSpPr txBox="1"/>
          <p:nvPr/>
        </p:nvSpPr>
        <p:spPr>
          <a:xfrm>
            <a:off x="548640" y="1353312"/>
            <a:ext cx="3858768" cy="402336"/>
          </a:xfrm>
          <a:prstGeom prst="rect">
            <a:avLst/>
          </a:prstGeom>
          <a:noFill/>
          <a:ln/>
        </p:spPr>
        <p:txBody>
          <a:bodyPr wrap="square" lIns="0" tIns="0" rIns="0" bIns="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University of Essex Online</a:t>
            </a:r>
            <a:endParaRPr lang="en-US" sz="1400" dirty="0"/>
          </a:p>
        </p:txBody>
      </p:sp>
      <p:sp>
        <p:nvSpPr>
          <p:cNvPr id="10" name="Shape 8"/>
          <p:cNvSpPr/>
          <p:nvPr/>
        </p:nvSpPr>
        <p:spPr>
          <a:xfrm>
            <a:off x="411480" y="1755648"/>
            <a:ext cx="4133088" cy="2011680"/>
          </a:xfrm>
          <a:prstGeom prst="rect">
            <a:avLst/>
          </a:prstGeom>
          <a:solidFill>
            <a:srgbClr val="FFFFFF"/>
          </a:solidFill>
          <a:ln w="9525">
            <a:solidFill>
              <a:srgbClr val="CCCCCC"/>
            </a:solidFill>
            <a:prstDash val="solid"/>
          </a:ln>
        </p:spPr>
      </p:sp>
      <p:sp>
        <p:nvSpPr>
          <p:cNvPr id="11" name="Text 9"/>
          <p:cNvSpPr txBox="1"/>
          <p:nvPr/>
        </p:nvSpPr>
        <p:spPr>
          <a:xfrm>
            <a:off x="548640" y="1856232"/>
            <a:ext cx="3858768"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Wholly online, self-directed, 15 to 20 hours a week per module</a:t>
            </a:r>
            <a:endParaRPr lang="en-US" sz="1200" dirty="0"/>
          </a:p>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International fee GBP 13,049, about LKR 5.9 million at LKR 450 per pound</a:t>
            </a:r>
            <a:endParaRPr lang="en-US" sz="1200" dirty="0"/>
          </a:p>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BCS accredited; multiple starts a year</a:t>
            </a:r>
            <a:endParaRPr lang="en-US" sz="1200" dirty="0"/>
          </a:p>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Buyer: the disciplined remote learner who can fund a UK fee</a:t>
            </a:r>
            <a:endParaRPr lang="en-US" sz="1200" dirty="0"/>
          </a:p>
        </p:txBody>
      </p:sp>
      <p:sp>
        <p:nvSpPr>
          <p:cNvPr id="12" name="Shape 10"/>
          <p:cNvSpPr/>
          <p:nvPr/>
        </p:nvSpPr>
        <p:spPr>
          <a:xfrm>
            <a:off x="4645152" y="1353312"/>
            <a:ext cx="4133088" cy="402336"/>
          </a:xfrm>
          <a:prstGeom prst="rect">
            <a:avLst/>
          </a:prstGeom>
          <a:solidFill>
            <a:srgbClr val="EB5600"/>
          </a:solidFill>
          <a:ln/>
        </p:spPr>
      </p:sp>
      <p:sp>
        <p:nvSpPr>
          <p:cNvPr id="13" name="Text 11"/>
          <p:cNvSpPr txBox="1"/>
          <p:nvPr/>
        </p:nvSpPr>
        <p:spPr>
          <a:xfrm>
            <a:off x="4782312" y="1353312"/>
            <a:ext cx="3858768" cy="402336"/>
          </a:xfrm>
          <a:prstGeom prst="rect">
            <a:avLst/>
          </a:prstGeom>
          <a:noFill/>
          <a:ln/>
        </p:spPr>
        <p:txBody>
          <a:bodyPr wrap="square" lIns="0" tIns="0" rIns="0" bIns="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Essex award franchised to NIBM</a:t>
            </a:r>
            <a:endParaRPr lang="en-US" sz="1400" dirty="0"/>
          </a:p>
        </p:txBody>
      </p:sp>
      <p:sp>
        <p:nvSpPr>
          <p:cNvPr id="14" name="Shape 12"/>
          <p:cNvSpPr/>
          <p:nvPr/>
        </p:nvSpPr>
        <p:spPr>
          <a:xfrm>
            <a:off x="4645152" y="1755648"/>
            <a:ext cx="4133088" cy="2011680"/>
          </a:xfrm>
          <a:prstGeom prst="rect">
            <a:avLst/>
          </a:prstGeom>
          <a:solidFill>
            <a:srgbClr val="FFFFFF"/>
          </a:solidFill>
          <a:ln w="9525">
            <a:solidFill>
              <a:srgbClr val="CCCCCC"/>
            </a:solidFill>
            <a:prstDash val="solid"/>
          </a:ln>
        </p:spPr>
      </p:sp>
      <p:sp>
        <p:nvSpPr>
          <p:cNvPr id="15" name="Text 13"/>
          <p:cNvSpPr txBox="1"/>
          <p:nvPr/>
        </p:nvSpPr>
        <p:spPr>
          <a:xfrm>
            <a:off x="4782312" y="1856232"/>
            <a:ext cx="3858768"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In-country cohort, supervised labs, employer-reviewed capstone</a:t>
            </a:r>
            <a:endParaRPr lang="en-US" sz="1200" dirty="0"/>
          </a:p>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Locally priced against a LKR 0.35 to 0.78 million field</a:t>
            </a:r>
            <a:endParaRPr lang="en-US" sz="1200" dirty="0"/>
          </a:p>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Evening and weekend timetable built for Sri Lankan working hours</a:t>
            </a:r>
            <a:endParaRPr lang="en-US" sz="1200" dirty="0"/>
          </a:p>
          <a:p>
            <a:pPr marL="342900" indent="-342900">
              <a:spcAft>
                <a:spcPts val="600"/>
              </a:spcAft>
              <a:buSzPct val="100000"/>
              <a:buChar char="•"/>
            </a:pPr>
            <a:r>
              <a:rPr lang="en-US" sz="1200" dirty="0">
                <a:solidFill>
                  <a:srgbClr val="1A1A1A"/>
                </a:solidFill>
                <a:latin typeface="Open Sans" pitchFamily="34" charset="0"/>
                <a:ea typeface="Open Sans" pitchFamily="34" charset="-122"/>
                <a:cs typeface="Open Sans" pitchFamily="34" charset="-120"/>
              </a:rPr>
              <a:t>Buyer: the graduate or professional who cannot reach the online fee and will not buy purely online study</a:t>
            </a:r>
            <a:endParaRPr lang="en-US" sz="1200" dirty="0"/>
          </a:p>
        </p:txBody>
      </p:sp>
      <p:sp>
        <p:nvSpPr>
          <p:cNvPr id="16" name="Shape 14"/>
          <p:cNvSpPr/>
          <p:nvPr/>
        </p:nvSpPr>
        <p:spPr>
          <a:xfrm>
            <a:off x="411480" y="3895344"/>
            <a:ext cx="8321040" cy="731520"/>
          </a:xfrm>
          <a:prstGeom prst="rect">
            <a:avLst/>
          </a:prstGeom>
          <a:solidFill>
            <a:srgbClr val="F2E6D0"/>
          </a:solidFill>
          <a:ln/>
        </p:spPr>
      </p:sp>
      <p:sp>
        <p:nvSpPr>
          <p:cNvPr id="17" name="Shape 15"/>
          <p:cNvSpPr/>
          <p:nvPr/>
        </p:nvSpPr>
        <p:spPr>
          <a:xfrm>
            <a:off x="411480" y="3895344"/>
            <a:ext cx="82296" cy="731520"/>
          </a:xfrm>
          <a:prstGeom prst="rect">
            <a:avLst/>
          </a:prstGeom>
          <a:solidFill>
            <a:srgbClr val="A07848"/>
          </a:solidFill>
          <a:ln/>
        </p:spPr>
      </p:sp>
      <p:sp>
        <p:nvSpPr>
          <p:cNvPr id="18" name="Text 16"/>
          <p:cNvSpPr txBox="1"/>
          <p:nvPr/>
        </p:nvSpPr>
        <p:spPr>
          <a:xfrm>
            <a:off x="621792" y="3931920"/>
            <a:ext cx="8001000" cy="658368"/>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Survey evidence: 84% likely or very likely with a UK award at an untested price; 40% would need a loan or scholarship; entry-level IT pay near LKR 80,000 a month makes the online fee about six years of salary. The franchise adds a segment; it does not move one.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A2  Partnerships, and the choice of Essex</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APPENDIX - HELD FOR QUESTIONS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Appendix to the Essex proposal - September 2026   3</a:t>
            </a:r>
            <a:endParaRPr lang="en-US" sz="1100" dirty="0"/>
          </a:p>
        </p:txBody>
      </p:sp>
      <p:sp>
        <p:nvSpPr>
          <p:cNvPr id="8" name="Shape 6"/>
          <p:cNvSpPr/>
          <p:nvPr/>
        </p:nvSpPr>
        <p:spPr>
          <a:xfrm>
            <a:off x="411480" y="1353312"/>
            <a:ext cx="4023360" cy="3273552"/>
          </a:xfrm>
          <a:prstGeom prst="rect">
            <a:avLst/>
          </a:prstGeom>
          <a:solidFill>
            <a:srgbClr val="FFFFFF"/>
          </a:solidFill>
          <a:ln w="9525">
            <a:solidFill>
              <a:srgbClr val="CCCCCC"/>
            </a:solidFill>
            <a:prstDash val="solid"/>
          </a:ln>
        </p:spPr>
      </p:sp>
      <p:sp>
        <p:nvSpPr>
          <p:cNvPr id="9" name="Shape 7"/>
          <p:cNvSpPr/>
          <p:nvPr/>
        </p:nvSpPr>
        <p:spPr>
          <a:xfrm>
            <a:off x="411480" y="1353312"/>
            <a:ext cx="82296" cy="3273552"/>
          </a:xfrm>
          <a:prstGeom prst="rect">
            <a:avLst/>
          </a:prstGeom>
          <a:solidFill>
            <a:srgbClr val="7A5230"/>
          </a:solidFill>
          <a:ln/>
        </p:spPr>
      </p:sp>
      <p:sp>
        <p:nvSpPr>
          <p:cNvPr id="10" name="Text 8"/>
          <p:cNvSpPr txBox="1"/>
          <p:nvPr/>
        </p:nvSpPr>
        <p:spPr>
          <a:xfrm>
            <a:off x="621792" y="1444752"/>
            <a:ext cx="3657600" cy="274320"/>
          </a:xfrm>
          <a:prstGeom prst="rect">
            <a:avLst/>
          </a:prstGeom>
          <a:noFill/>
          <a:ln/>
        </p:spPr>
        <p:txBody>
          <a:bodyPr wrap="square" lIns="0" tIns="0" rIns="0" bIns="0" rtlCol="0" anchor="t"/>
          <a:lstStyle/>
          <a:p>
            <a:pPr indent="0" marL="0">
              <a:buNone/>
            </a:pPr>
            <a:r>
              <a:rPr lang="en-US" sz="1300" b="1" dirty="0">
                <a:solidFill>
                  <a:srgbClr val="7A5230"/>
                </a:solidFill>
                <a:latin typeface="Open Sans" pitchFamily="34" charset="0"/>
                <a:ea typeface="Open Sans" pitchFamily="34" charset="-122"/>
                <a:cs typeface="Open Sans" pitchFamily="34" charset="-120"/>
              </a:rPr>
              <a:t>How NIBM chooses partners</a:t>
            </a:r>
            <a:endParaRPr lang="en-US" sz="1300" dirty="0"/>
          </a:p>
        </p:txBody>
      </p:sp>
      <p:sp>
        <p:nvSpPr>
          <p:cNvPr id="11" name="Text 9"/>
          <p:cNvSpPr txBox="1"/>
          <p:nvPr/>
        </p:nvSpPr>
        <p:spPr>
          <a:xfrm>
            <a:off x="621792" y="1764792"/>
            <a:ext cx="3657600" cy="2788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One partner per specialism, chosen on strength in that award</a:t>
            </a:r>
            <a:endParaRPr lang="en-US" sz="1200" dirty="0"/>
          </a:p>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Coventry University: undergraduate computing partner since 2017; that relationship continues unchanged</a:t>
            </a:r>
            <a:endParaRPr lang="en-US" sz="1200" dirty="0"/>
          </a:p>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University College Dublin (1996), Griffith transfer pathway, Ural Federal, Limkokwing: each for a specific purpose</a:t>
            </a:r>
            <a:endParaRPr lang="en-US" sz="1200" dirty="0"/>
          </a:p>
          <a:p>
            <a:pPr marL="342900" indent="-342900">
              <a:buSzPct val="100000"/>
              <a:buChar char="•"/>
            </a:pPr>
            <a:r>
              <a:rPr lang="en-US" sz="1200" dirty="0">
                <a:solidFill>
                  <a:srgbClr val="1A1A1A"/>
                </a:solidFill>
                <a:latin typeface="Open Sans" pitchFamily="34" charset="0"/>
                <a:ea typeface="Open Sans" pitchFamily="34" charset="-122"/>
                <a:cs typeface="Open Sans" pitchFamily="34" charset="-120"/>
              </a:rPr>
              <a:t>Postgraduate cyber is a level no current arrangement covers: this adds a partner at that level, it replaces none</a:t>
            </a:r>
            <a:endParaRPr lang="en-US" sz="1200" dirty="0"/>
          </a:p>
        </p:txBody>
      </p:sp>
      <p:sp>
        <p:nvSpPr>
          <p:cNvPr id="12" name="Shape 10"/>
          <p:cNvSpPr/>
          <p:nvPr/>
        </p:nvSpPr>
        <p:spPr>
          <a:xfrm>
            <a:off x="4663440" y="1353312"/>
            <a:ext cx="4069080" cy="3273552"/>
          </a:xfrm>
          <a:prstGeom prst="rect">
            <a:avLst/>
          </a:prstGeom>
          <a:solidFill>
            <a:srgbClr val="FFFFFF"/>
          </a:solidFill>
          <a:ln w="9525">
            <a:solidFill>
              <a:srgbClr val="CCCCCC"/>
            </a:solidFill>
            <a:prstDash val="solid"/>
          </a:ln>
        </p:spPr>
      </p:sp>
      <p:sp>
        <p:nvSpPr>
          <p:cNvPr id="13" name="Shape 11"/>
          <p:cNvSpPr/>
          <p:nvPr/>
        </p:nvSpPr>
        <p:spPr>
          <a:xfrm>
            <a:off x="4663440" y="1353312"/>
            <a:ext cx="82296" cy="3273552"/>
          </a:xfrm>
          <a:prstGeom prst="rect">
            <a:avLst/>
          </a:prstGeom>
          <a:solidFill>
            <a:srgbClr val="EB5600"/>
          </a:solidFill>
          <a:ln/>
        </p:spPr>
      </p:sp>
      <p:sp>
        <p:nvSpPr>
          <p:cNvPr id="14" name="Text 12"/>
          <p:cNvSpPr txBox="1"/>
          <p:nvPr/>
        </p:nvSpPr>
        <p:spPr>
          <a:xfrm>
            <a:off x="4873752" y="1444752"/>
            <a:ext cx="3657600" cy="274320"/>
          </a:xfrm>
          <a:prstGeom prst="rect">
            <a:avLst/>
          </a:prstGeom>
          <a:noFill/>
          <a:ln/>
        </p:spPr>
        <p:txBody>
          <a:bodyPr wrap="square" lIns="0" tIns="0" rIns="0" bIns="0" rtlCol="0" anchor="t"/>
          <a:lstStyle/>
          <a:p>
            <a:pPr indent="0" marL="0">
              <a:buNone/>
            </a:pPr>
            <a:r>
              <a:rPr lang="en-US" sz="1300" b="1" dirty="0">
                <a:solidFill>
                  <a:srgbClr val="EB5600"/>
                </a:solidFill>
                <a:latin typeface="Open Sans" pitchFamily="34" charset="0"/>
                <a:ea typeface="Open Sans" pitchFamily="34" charset="-122"/>
                <a:cs typeface="Open Sans" pitchFamily="34" charset="-120"/>
              </a:rPr>
              <a:t>Why Essex on the evidence</a:t>
            </a:r>
            <a:endParaRPr lang="en-US" sz="1300" dirty="0"/>
          </a:p>
        </p:txBody>
      </p:sp>
      <p:sp>
        <p:nvSpPr>
          <p:cNvPr id="15" name="Text 13"/>
          <p:cNvSpPr txBox="1"/>
          <p:nvPr/>
        </p:nvSpPr>
        <p:spPr>
          <a:xfrm>
            <a:off x="4873752" y="1764792"/>
            <a:ext cx="3657600" cy="2788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Highest-ranked UK awarding university among those delivered in Colombo: CUG 29, Guardian 12 (2026)</a:t>
            </a:r>
            <a:endParaRPr lang="en-US" sz="1200" dirty="0"/>
          </a:p>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6th in the UK for research power in computer science (REF 2021, THE measure)</a:t>
            </a:r>
            <a:endParaRPr lang="en-US" sz="1200" dirty="0"/>
          </a:p>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Programme profile continues the Ethical Hacking and Network Security stream: security by design, digital identity, forensics, network security</a:t>
            </a:r>
            <a:endParaRPr lang="en-US" sz="1200" dirty="0"/>
          </a:p>
          <a:p>
            <a:pPr marL="342900" indent="-342900">
              <a:spcAft>
                <a:spcPts val="500"/>
              </a:spcAft>
              <a:buSzPct val="100000"/>
              <a:buChar char="•"/>
            </a:pPr>
            <a:r>
              <a:rPr lang="en-US" sz="1200" dirty="0">
                <a:solidFill>
                  <a:srgbClr val="1A1A1A"/>
                </a:solidFill>
                <a:latin typeface="Open Sans" pitchFamily="34" charset="0"/>
                <a:ea typeface="Open Sans" pitchFamily="34" charset="-122"/>
                <a:cs typeface="Open Sans" pitchFamily="34" charset="-120"/>
              </a:rPr>
              <a:t>The PgDip exit and PgCert already exist in Essex's own award portfolio</a:t>
            </a:r>
            <a:endParaRPr lang="en-US" sz="1200" dirty="0"/>
          </a:p>
          <a:p>
            <a:pPr marL="342900" indent="-342900">
              <a:buSzPct val="100000"/>
              <a:buChar char="•"/>
            </a:pPr>
            <a:r>
              <a:rPr lang="en-US" sz="1200" dirty="0">
                <a:solidFill>
                  <a:srgbClr val="1A1A1A"/>
                </a:solidFill>
                <a:latin typeface="Open Sans" pitchFamily="34" charset="0"/>
                <a:ea typeface="Open Sans" pitchFamily="34" charset="-122"/>
                <a:cs typeface="Open Sans" pitchFamily="34" charset="-120"/>
              </a:rPr>
              <a:t>Essex's TNE strategy names Sri Lanka as a priority market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A3  NCSC certification: what may be claimed</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APPENDIX - HELD FOR QUESTIONS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Appendix to the Essex proposal - September 2026   4</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53312"/>
          <a:ext cx="8321040" cy="914400"/>
        </p:xfrm>
        <a:graphic>
          <a:graphicData uri="http://schemas.openxmlformats.org/drawingml/2006/table">
            <a:tbl>
              <a:tblPr/>
              <a:tblGrid>
                <a:gridCol w="1737360"/>
                <a:gridCol w="2926080"/>
                <a:gridCol w="2377440"/>
                <a:gridCol w="1280160"/>
              </a:tblGrid>
              <a:tr h="292608">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Route delivered in Sri Lanka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UK awarding programme</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NCSC status (list of May 2026)</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Expiry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r>
              <a:tr h="310896">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NIBM (proposed)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Essex MSc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Provisionally certified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30 Sep 2027</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Westminster MSc Cyber Security and Forensics</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Fully certified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30 Sep 2028</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ESOFT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Kingston MSc Network and Information Security (cyber pathway)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Fully certified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30 Sep 2026</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UCL Sri Lanka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Lancashire MSc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Not listed (a different Lancashire programme is)</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APIIT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Staffordshire MSc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Not listed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NEXT Campus (unverified)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London Metropolitan MSc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Not listed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3986784"/>
            <a:ext cx="8321040" cy="658368"/>
          </a:xfrm>
          <a:prstGeom prst="rect">
            <a:avLst/>
          </a:prstGeom>
          <a:solidFill>
            <a:srgbClr val="FFF5E8"/>
          </a:solidFill>
          <a:ln w="12700">
            <a:solidFill>
              <a:srgbClr val="EB5600"/>
            </a:solidFill>
            <a:prstDash val="solid"/>
          </a:ln>
        </p:spPr>
      </p:sp>
      <p:sp>
        <p:nvSpPr>
          <p:cNvPr id="10" name="Text 7"/>
          <p:cNvSpPr txBox="1"/>
          <p:nvPr/>
        </p:nvSpPr>
        <p:spPr>
          <a:xfrm>
            <a:off x="566928" y="4005072"/>
            <a:ext cx="8001000" cy="62179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Certification attaches to the programme as delivered and assessed by the named UK academic team. Whether it extends to a franchised delivery is Essex's to answer; NIBM will claim nothing locally until Essex confirms what may be said. Essex Online's MSc is BCS accredited, not NCSC listed.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A4  The local field and the fee band</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APPENDIX - HELD FOR QUESTIONS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Appendix to the Essex proposal - September 2026   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53312"/>
          <a:ext cx="8321040" cy="914400"/>
        </p:xfrm>
        <a:graphic>
          <a:graphicData uri="http://schemas.openxmlformats.org/drawingml/2006/table">
            <a:tbl>
              <a:tblPr/>
              <a:tblGrid>
                <a:gridCol w="1188720"/>
                <a:gridCol w="2377440"/>
                <a:gridCol w="1463040"/>
                <a:gridCol w="1645920"/>
                <a:gridCol w="1645920"/>
              </a:tblGrid>
              <a:tr h="292608">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Provider</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Award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Model</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Published fee (LKR)</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Mode</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r>
              <a:tr h="384048">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UCL Sri Lanka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Lancashire MSc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UK award, local delivery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325,000 + GBP 1,000 (about 775,000)</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12 months, on campus; launched Feb 2026</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Westminster MSc Cyber Security and Forensics</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UK award, local delivery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Not published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Part time, 2 years</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ESOFT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Kingston MSc Network and Information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UK award, local delivery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350,000 (stale listing)</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Listed full time</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APIIT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Staffordshire MSc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UK award, local delivery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Not published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Not published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SLIIT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MSc IT (Cyber 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Own Sri Lankan award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550,000 (stale listing)</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Part time, 2 years</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UCSC</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Master of Cybersecurity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State university award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615,000</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2 yrs part time, evenings and Sat; 2023 intake 28</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 y="4096512"/>
            <a:ext cx="8229600" cy="548640"/>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Source: NIBM competitor matrix, 12 Sep 2026, GBP component restated at LKR 450. Two further UK-partner routes (NEXT Campus, ANC) are unverified. Four of six UK-partner routes publish no fee. Almost all provision is part time, evenings and weekends.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A5  Survey method, weighting and limitations</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APPENDIX - HELD FOR QUESTIONS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Appendix to the Essex proposal - September 2026   6</a:t>
            </a:r>
            <a:endParaRPr lang="en-US" sz="1100" dirty="0"/>
          </a:p>
        </p:txBody>
      </p:sp>
      <p:sp>
        <p:nvSpPr>
          <p:cNvPr id="8" name="Shape 6"/>
          <p:cNvSpPr/>
          <p:nvPr/>
        </p:nvSpPr>
        <p:spPr>
          <a:xfrm>
            <a:off x="411480" y="1353312"/>
            <a:ext cx="4133088" cy="402336"/>
          </a:xfrm>
          <a:prstGeom prst="rect">
            <a:avLst/>
          </a:prstGeom>
          <a:solidFill>
            <a:srgbClr val="7A5230"/>
          </a:solidFill>
          <a:ln/>
        </p:spPr>
      </p:sp>
      <p:sp>
        <p:nvSpPr>
          <p:cNvPr id="9" name="Text 7"/>
          <p:cNvSpPr txBox="1"/>
          <p:nvPr/>
        </p:nvSpPr>
        <p:spPr>
          <a:xfrm>
            <a:off x="548640" y="1353312"/>
            <a:ext cx="3858768" cy="402336"/>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Survey A: students, n = 57</a:t>
            </a:r>
            <a:endParaRPr lang="en-US" sz="1300" dirty="0"/>
          </a:p>
        </p:txBody>
      </p:sp>
      <p:sp>
        <p:nvSpPr>
          <p:cNvPr id="10" name="Shape 8"/>
          <p:cNvSpPr/>
          <p:nvPr/>
        </p:nvSpPr>
        <p:spPr>
          <a:xfrm>
            <a:off x="411480" y="1755648"/>
            <a:ext cx="4133088" cy="2871216"/>
          </a:xfrm>
          <a:prstGeom prst="rect">
            <a:avLst/>
          </a:prstGeom>
          <a:solidFill>
            <a:srgbClr val="FFFFFF"/>
          </a:solidFill>
          <a:ln w="9525">
            <a:solidFill>
              <a:srgbClr val="CCCCCC"/>
            </a:solidFill>
            <a:prstDash val="solid"/>
          </a:ln>
        </p:spPr>
      </p:sp>
      <p:sp>
        <p:nvSpPr>
          <p:cNvPr id="11" name="Text 9"/>
          <p:cNvSpPr txBox="1"/>
          <p:nvPr/>
        </p:nvSpPr>
        <p:spPr>
          <a:xfrm>
            <a:off x="548640" y="1856232"/>
            <a:ext cx="3858768" cy="2697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Microsoft Forms, 6 items, anonymous; open link circulated within NIBM, 22 to 23 Sep 2026</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49 current undergraduates (86%), 8 graduates; no population denominator, so no response rate</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Committed demand = positive on a UK award and start within 12 months, then weighted 0.8 / 0.3 (central) or 0.6 / 0.2 (conservative) on the top two bands</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Limits: self-selected, no fee question, UK question asked after the NIBM question (possible ordering effect), timing aspirational for undergraduates</a:t>
            </a:r>
            <a:endParaRPr lang="en-US" sz="1100" dirty="0"/>
          </a:p>
        </p:txBody>
      </p:sp>
      <p:sp>
        <p:nvSpPr>
          <p:cNvPr id="12" name="Shape 10"/>
          <p:cNvSpPr/>
          <p:nvPr/>
        </p:nvSpPr>
        <p:spPr>
          <a:xfrm>
            <a:off x="4645152" y="1353312"/>
            <a:ext cx="4133088" cy="402336"/>
          </a:xfrm>
          <a:prstGeom prst="rect">
            <a:avLst/>
          </a:prstGeom>
          <a:solidFill>
            <a:srgbClr val="EB5600"/>
          </a:solidFill>
          <a:ln/>
        </p:spPr>
      </p:sp>
      <p:sp>
        <p:nvSpPr>
          <p:cNvPr id="13" name="Text 11"/>
          <p:cNvSpPr txBox="1"/>
          <p:nvPr/>
        </p:nvSpPr>
        <p:spPr>
          <a:xfrm>
            <a:off x="4782312" y="1353312"/>
            <a:ext cx="3858768" cy="402336"/>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Survey B: industry and academics, n = 7</a:t>
            </a:r>
            <a:endParaRPr lang="en-US" sz="1300" dirty="0"/>
          </a:p>
        </p:txBody>
      </p:sp>
      <p:sp>
        <p:nvSpPr>
          <p:cNvPr id="14" name="Shape 12"/>
          <p:cNvSpPr/>
          <p:nvPr/>
        </p:nvSpPr>
        <p:spPr>
          <a:xfrm>
            <a:off x="4645152" y="1755648"/>
            <a:ext cx="4133088" cy="2871216"/>
          </a:xfrm>
          <a:prstGeom prst="rect">
            <a:avLst/>
          </a:prstGeom>
          <a:solidFill>
            <a:srgbClr val="FFFFFF"/>
          </a:solidFill>
          <a:ln w="9525">
            <a:solidFill>
              <a:srgbClr val="CCCCCC"/>
            </a:solidFill>
            <a:prstDash val="solid"/>
          </a:ln>
        </p:spPr>
      </p:sp>
      <p:sp>
        <p:nvSpPr>
          <p:cNvPr id="15" name="Text 13"/>
          <p:cNvSpPr txBox="1"/>
          <p:nvPr/>
        </p:nvSpPr>
        <p:spPr>
          <a:xfrm>
            <a:off x="4782312" y="1856232"/>
            <a:ext cx="3858768" cy="2697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Microsoft Forms, 9 items, named; purposive sample of senior people already engaged with NIBM, none NIBM staff</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IT services, telecom, insurance and its regulator, three national-university academics</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Qualitative evidence: quoted by sector only, because the form did not capture attribution consent</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Limits: n = 7; willingness to contribute captured as yes or no, so mode of contribution and teaching capacity were followed up directly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A6  Verification status</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APPENDIX - HELD FOR QUESTIONS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Appendix to the Essex proposal - September 2026   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53312"/>
          <a:ext cx="8321040" cy="914400"/>
        </p:xfrm>
        <a:graphic>
          <a:graphicData uri="http://schemas.openxmlformats.org/drawingml/2006/table">
            <a:tbl>
              <a:tblPr/>
              <a:tblGrid>
                <a:gridCol w="4297680"/>
                <a:gridCol w="2377440"/>
                <a:gridCol w="1645920"/>
              </a:tblGrid>
              <a:tr h="292608">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Item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Owner</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Whether NCSC certification extends to a franchised delivery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Open: ask Essex</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Partnerships team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Essex's expected commercial terms and any fee floor</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Open: ask Essex</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Partnerships team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NIBM's regulatory standing to host a foreign master's award</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Open: registrar, Coventry documentation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Partnerships team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Fee-band question to the student population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Planned: one day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Academic delivery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Delivery panel titles, CVs and consent to be named</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Verified from public sources; consent in progress</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Academic delivery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League tables refreshed to 2027 editions</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Before the meeting</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Academic delivery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Competitor fees for IIT, ESOFT, SLIIT by direct enquiry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Open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Academic delivery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Regulatory recognition of the award in Sri Lanka</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To confirm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Partnerships team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Cyber Security at NIBM - Business case for the University of Essex</dc:title>
  <dc:subject>PptxGenJS Presentation</dc:subject>
  <dc:creator>Niranga Dharmaratna</dc:creator>
  <cp:lastModifiedBy>Niranga Dharmaratna</cp:lastModifiedBy>
  <cp:revision>1</cp:revision>
  <dcterms:created xsi:type="dcterms:W3CDTF">2026-09-23T09:08:09Z</dcterms:created>
  <dcterms:modified xsi:type="dcterms:W3CDTF">2026-09-23T09:08:09Z</dcterms:modified>
</cp:coreProperties>
</file>