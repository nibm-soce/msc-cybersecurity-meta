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95959"/>
                </a:solidFill>
                <a:latin typeface="Open Sans"/>
              </a:defRPr>
            </a:pPr>
            <a:r>
              <a:rPr sz="1100" b="0" i="0" u="none" strike="noStrike">
                <a:solidFill>
                  <a:srgbClr val="595959"/>
                </a:solidFill>
                <a:latin typeface="Open Sans"/>
              </a:rPr>
              <a:t>Graduates by convocation, SOCE</a:t>
            </a:r>
          </a:p>
        </c:rich>
      </c:tx>
      <c:layout/>
      <c:overlay val="0"/>
    </c:title>
    <c:autoTitleDeleted val="0"/>
    <c:plotArea>
      <c:layout/>
      <c:barChart>
        <c:barDir val="col"/>
        <c:grouping val="stacked"/>
        <c:varyColors val="0"/>
        <c:ser>
          <c:idx val="0"/>
          <c:order val="0"/>
          <c:tx>
            <c:strRef>
              <c:f>Sheet1!$B$1</c:f>
              <c:strCache>
                <c:ptCount val="1"/>
                <c:pt idx="0">
                  <c:v>Computing / Software Engineering</c:v>
                </c:pt>
              </c:strCache>
            </c:strRef>
          </c:tx>
          <c:spPr>
            <a:solidFill>
              <a:srgbClr val="C4A882"/>
            </a:solidFill>
            <a:effectLst/>
          </c:spPr>
          <c:invertIfNegative val="0"/>
          <c:dLbls>
            <c:numFmt formatCode="#,##0" sourceLinked="0"/>
            <c:txPr>
              <a:bodyPr/>
              <a:lstStyle/>
              <a:p>
                <a:pPr>
                  <a:defRPr b="0" i="0" strike="noStrike" sz="1100" u="none">
                    <a:solidFill>
                      <a:srgbClr val="FFFFFF"/>
                    </a:solidFill>
                    <a:latin typeface="Open Sans"/>
                  </a:defRPr>
                </a:pPr>
              </a:p>
            </c:txPr>
            <c:dLblPos val="ctr"/>
            <c:showLegendKey val="0"/>
            <c:showVal val="1"/>
            <c:showCatName val="0"/>
            <c:showSerName val="0"/>
            <c:showPercent val="0"/>
            <c:showBubbleSize val="0"/>
            <c:showLeaderLines val="0"/>
          </c:dLbls>
          <c:cat>
            <c:multiLvlStrRef>
              <c:f>Sheet1!$A$2:$A$7</c:f>
              <c:multiLvlStrCache>
                <c:ptCount val="6"/>
                <c:lvl>
                  <c:pt idx="0">
                    <c:v>Mar 2024</c:v>
                  </c:pt>
                  <c:pt idx="1">
                    <c:v>Jul 2024</c:v>
                  </c:pt>
                  <c:pt idx="2">
                    <c:v>Mar 2025</c:v>
                  </c:pt>
                  <c:pt idx="3">
                    <c:v>Jul 2025</c:v>
                  </c:pt>
                  <c:pt idx="4">
                    <c:v>Mar 2026</c:v>
                  </c:pt>
                  <c:pt idx="5">
                    <c:v>Sep 2026</c:v>
                  </c:pt>
                </c:lvl>
              </c:multiLvlStrCache>
            </c:multiLvlStrRef>
          </c:cat>
          <c:val>
            <c:numRef>
              <c:f>Sheet1!$B$2:$B$7</c:f>
              <c:numCache>
                <c:formatCode>General</c:formatCode>
                <c:ptCount val="6"/>
                <c:pt idx="0">
                  <c:v>57</c:v>
                </c:pt>
                <c:pt idx="1">
                  <c:v>9</c:v>
                </c:pt>
                <c:pt idx="2">
                  <c:v>31</c:v>
                </c:pt>
                <c:pt idx="3">
                  <c:v>49</c:v>
                </c:pt>
                <c:pt idx="4">
                  <c:v>30</c:v>
                </c:pt>
                <c:pt idx="5">
                  <c:v>34</c:v>
                </c:pt>
              </c:numCache>
            </c:numRef>
          </c:val>
        </c:ser>
        <c:ser>
          <c:idx val="1"/>
          <c:order val="1"/>
          <c:tx>
            <c:strRef>
              <c:f>Sheet1!$C$1</c:f>
              <c:strCache>
                <c:ptCount val="1"/>
                <c:pt idx="0">
                  <c:v>IT for Business</c:v>
                </c:pt>
              </c:strCache>
            </c:strRef>
          </c:tx>
          <c:spPr>
            <a:solidFill>
              <a:srgbClr val="A07848"/>
            </a:solidFill>
            <a:effectLst/>
          </c:spPr>
          <c:invertIfNegative val="0"/>
          <c:dLbls>
            <c:numFmt formatCode="#,##0" sourceLinked="0"/>
            <c:txPr>
              <a:bodyPr/>
              <a:lstStyle/>
              <a:p>
                <a:pPr>
                  <a:defRPr b="0" i="0" strike="noStrike" sz="1100" u="none">
                    <a:solidFill>
                      <a:srgbClr val="FFFFFF"/>
                    </a:solidFill>
                    <a:latin typeface="Open Sans"/>
                  </a:defRPr>
                </a:pPr>
              </a:p>
            </c:txPr>
            <c:dLblPos val="ctr"/>
            <c:showLegendKey val="0"/>
            <c:showVal val="1"/>
            <c:showCatName val="0"/>
            <c:showSerName val="0"/>
            <c:showPercent val="0"/>
            <c:showBubbleSize val="0"/>
            <c:showLeaderLines val="0"/>
          </c:dLbls>
          <c:cat>
            <c:multiLvlStrRef>
              <c:f>Sheet1!$A$2:$A$7</c:f>
              <c:multiLvlStrCache>
                <c:ptCount val="6"/>
                <c:lvl>
                  <c:pt idx="0">
                    <c:v>Mar 2024</c:v>
                  </c:pt>
                  <c:pt idx="1">
                    <c:v>Jul 2024</c:v>
                  </c:pt>
                  <c:pt idx="2">
                    <c:v>Mar 2025</c:v>
                  </c:pt>
                  <c:pt idx="3">
                    <c:v>Jul 2025</c:v>
                  </c:pt>
                  <c:pt idx="4">
                    <c:v>Mar 2026</c:v>
                  </c:pt>
                  <c:pt idx="5">
                    <c:v>Sep 2026</c:v>
                  </c:pt>
                </c:lvl>
              </c:multiLvlStrCache>
            </c:multiLvlStrRef>
          </c:cat>
          <c:val>
            <c:numRef>
              <c:f>Sheet1!$C$2:$C$7</c:f>
              <c:numCache>
                <c:formatCode>General</c:formatCode>
                <c:ptCount val="6"/>
                <c:pt idx="0">
                  <c:v>15</c:v>
                </c:pt>
                <c:pt idx="1">
                  <c:v>11</c:v>
                </c:pt>
                <c:pt idx="2">
                  <c:v>15</c:v>
                </c:pt>
                <c:pt idx="3">
                  <c:v>8</c:v>
                </c:pt>
                <c:pt idx="4">
                  <c:v>18</c:v>
                </c:pt>
                <c:pt idx="5">
                  <c:v>19</c:v>
                </c:pt>
              </c:numCache>
            </c:numRef>
          </c:val>
        </c:ser>
        <c:ser>
          <c:idx val="2"/>
          <c:order val="2"/>
          <c:tx>
            <c:strRef>
              <c:f>Sheet1!$D$1</c:f>
              <c:strCache>
                <c:ptCount val="1"/>
                <c:pt idx="0">
                  <c:v>Ethical Hacking and Network Security</c:v>
                </c:pt>
              </c:strCache>
            </c:strRef>
          </c:tx>
          <c:spPr>
            <a:solidFill>
              <a:srgbClr val="EB5600"/>
            </a:solidFill>
            <a:effectLst/>
          </c:spPr>
          <c:invertIfNegative val="0"/>
          <c:dLbls>
            <c:numFmt formatCode="#,##0" sourceLinked="0"/>
            <c:txPr>
              <a:bodyPr/>
              <a:lstStyle/>
              <a:p>
                <a:pPr>
                  <a:defRPr b="0" i="0" strike="noStrike" sz="1100" u="none">
                    <a:solidFill>
                      <a:srgbClr val="FFFFFF"/>
                    </a:solidFill>
                    <a:latin typeface="Open Sans"/>
                  </a:defRPr>
                </a:pPr>
              </a:p>
            </c:txPr>
            <c:dLblPos val="ctr"/>
            <c:showLegendKey val="0"/>
            <c:showVal val="1"/>
            <c:showCatName val="0"/>
            <c:showSerName val="0"/>
            <c:showPercent val="0"/>
            <c:showBubbleSize val="0"/>
            <c:showLeaderLines val="0"/>
          </c:dLbls>
          <c:cat>
            <c:multiLvlStrRef>
              <c:f>Sheet1!$A$2:$A$7</c:f>
              <c:multiLvlStrCache>
                <c:ptCount val="6"/>
                <c:lvl>
                  <c:pt idx="0">
                    <c:v>Mar 2024</c:v>
                  </c:pt>
                  <c:pt idx="1">
                    <c:v>Jul 2024</c:v>
                  </c:pt>
                  <c:pt idx="2">
                    <c:v>Mar 2025</c:v>
                  </c:pt>
                  <c:pt idx="3">
                    <c:v>Jul 2025</c:v>
                  </c:pt>
                  <c:pt idx="4">
                    <c:v>Mar 2026</c:v>
                  </c:pt>
                  <c:pt idx="5">
                    <c:v>Sep 2026</c:v>
                  </c:pt>
                </c:lvl>
              </c:multiLvlStrCache>
            </c:multiLvlStrRef>
          </c:cat>
          <c:val>
            <c:numRef>
              <c:f>Sheet1!$D$2:$D$7</c:f>
              <c:numCache>
                <c:formatCode>General</c:formatCode>
                <c:ptCount val="6"/>
                <c:pt idx="0">
                  <c:v>13</c:v>
                </c:pt>
                <c:pt idx="1">
                  <c:v>2</c:v>
                </c:pt>
                <c:pt idx="2">
                  <c:v>14</c:v>
                </c:pt>
                <c:pt idx="3">
                  <c:v>7</c:v>
                </c:pt>
                <c:pt idx="4">
                  <c:v>8</c:v>
                </c:pt>
                <c:pt idx="5">
                  <c:v>6</c:v>
                </c:pt>
              </c:numCache>
            </c:numRef>
          </c:val>
        </c:ser>
        <c:dLbls>
          <c:numFmt formatCode="#,##0" sourceLinked="0"/>
          <c:txPr>
            <a:bodyPr/>
            <a:lstStyle/>
            <a:p>
              <a:pPr>
                <a:defRPr b="0" i="0" strike="noStrike" sz="1100" u="none">
                  <a:solidFill>
                    <a:srgbClr val="FFFFFF"/>
                  </a:solidFill>
                  <a:latin typeface="Open Sans"/>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Open Sans"/>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5DE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Open Sans"/>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1A1A1A"/>
              </a:solidFill>
              <a:latin typeface="Open Sans"/>
              <a:cs typeface="Open San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NIBM programme</c:v>
                </c:pt>
              </c:strCache>
            </c:strRef>
          </c:tx>
          <c:spPr>
            <a:solidFill>
              <a:srgbClr val="C4A882"/>
            </a:solidFill>
            <a:effectLst/>
          </c:spPr>
          <c:invertIfNegative val="0"/>
          <c:dLbls>
            <c:numFmt formatCode="#,##0" sourceLinked="0"/>
            <c:txPr>
              <a:bodyPr/>
              <a:lstStyle/>
              <a:p>
                <a:pPr>
                  <a:defRPr b="0" i="0" strike="noStrike" sz="1100" u="none">
                    <a:solidFill>
                      <a:srgbClr val="1A1A1A"/>
                    </a:solidFill>
                    <a:latin typeface="Open Sans"/>
                  </a:defRPr>
                </a:pPr>
              </a:p>
            </c:txPr>
            <c:showLegendKey val="0"/>
            <c:showVal val="1"/>
            <c:showCatName val="0"/>
            <c:showSerName val="0"/>
            <c:showPercent val="0"/>
            <c:showBubbleSize val="0"/>
            <c:showLeaderLines val="0"/>
          </c:dLbls>
          <c:cat>
            <c:multiLvlStrRef>
              <c:f>Sheet1!$A$2:$A$6</c:f>
              <c:multiLvlStrCache>
                <c:ptCount val="5"/>
                <c:lvl>
                  <c:pt idx="0">
                    <c:v>Very likely</c:v>
                  </c:pt>
                  <c:pt idx="1">
                    <c:v>Somewhat likely</c:v>
                  </c:pt>
                  <c:pt idx="2">
                    <c:v>Neither</c:v>
                  </c:pt>
                  <c:pt idx="3">
                    <c:v>Somewhat unlikely</c:v>
                  </c:pt>
                  <c:pt idx="4">
                    <c:v>Very unlikely</c:v>
                  </c:pt>
                </c:lvl>
              </c:multiLvlStrCache>
            </c:multiLvlStrRef>
          </c:cat>
          <c:val>
            <c:numRef>
              <c:f>Sheet1!$B$2:$B$6</c:f>
              <c:numCache>
                <c:formatCode>General</c:formatCode>
                <c:ptCount val="5"/>
                <c:pt idx="0">
                  <c:v>20</c:v>
                </c:pt>
                <c:pt idx="1">
                  <c:v>22</c:v>
                </c:pt>
                <c:pt idx="2">
                  <c:v>10</c:v>
                </c:pt>
                <c:pt idx="3">
                  <c:v>3</c:v>
                </c:pt>
                <c:pt idx="4">
                  <c:v>2</c:v>
                </c:pt>
              </c:numCache>
            </c:numRef>
          </c:val>
        </c:ser>
        <c:ser>
          <c:idx val="1"/>
          <c:order val="1"/>
          <c:tx>
            <c:strRef>
              <c:f>Sheet1!$C$1</c:f>
              <c:strCache>
                <c:ptCount val="1"/>
                <c:pt idx="0">
                  <c:v>Same programme, UK award</c:v>
                </c:pt>
              </c:strCache>
            </c:strRef>
          </c:tx>
          <c:spPr>
            <a:solidFill>
              <a:srgbClr val="7A5230"/>
            </a:solidFill>
            <a:effectLst/>
          </c:spPr>
          <c:invertIfNegative val="0"/>
          <c:dLbls>
            <c:numFmt formatCode="#,##0" sourceLinked="0"/>
            <c:txPr>
              <a:bodyPr/>
              <a:lstStyle/>
              <a:p>
                <a:pPr>
                  <a:defRPr b="0" i="0" strike="noStrike" sz="1100" u="none">
                    <a:solidFill>
                      <a:srgbClr val="1A1A1A"/>
                    </a:solidFill>
                    <a:latin typeface="Open Sans"/>
                  </a:defRPr>
                </a:pPr>
              </a:p>
            </c:txPr>
            <c:showLegendKey val="0"/>
            <c:showVal val="1"/>
            <c:showCatName val="0"/>
            <c:showSerName val="0"/>
            <c:showPercent val="0"/>
            <c:showBubbleSize val="0"/>
            <c:showLeaderLines val="0"/>
          </c:dLbls>
          <c:cat>
            <c:multiLvlStrRef>
              <c:f>Sheet1!$A$2:$A$6</c:f>
              <c:multiLvlStrCache>
                <c:ptCount val="5"/>
                <c:lvl>
                  <c:pt idx="0">
                    <c:v>Very likely</c:v>
                  </c:pt>
                  <c:pt idx="1">
                    <c:v>Somewhat likely</c:v>
                  </c:pt>
                  <c:pt idx="2">
                    <c:v>Neither</c:v>
                  </c:pt>
                  <c:pt idx="3">
                    <c:v>Somewhat unlikely</c:v>
                  </c:pt>
                  <c:pt idx="4">
                    <c:v>Very unlikely</c:v>
                  </c:pt>
                </c:lvl>
              </c:multiLvlStrCache>
            </c:multiLvlStrRef>
          </c:cat>
          <c:val>
            <c:numRef>
              <c:f>Sheet1!$C$2:$C$6</c:f>
              <c:numCache>
                <c:formatCode>General</c:formatCode>
                <c:ptCount val="5"/>
                <c:pt idx="0">
                  <c:v>37</c:v>
                </c:pt>
                <c:pt idx="1">
                  <c:v>11</c:v>
                </c:pt>
                <c:pt idx="2">
                  <c:v>7</c:v>
                </c:pt>
                <c:pt idx="3">
                  <c:v>1</c:v>
                </c:pt>
                <c:pt idx="4">
                  <c:v>1</c:v>
                </c:pt>
              </c:numCache>
            </c:numRef>
          </c:val>
        </c:ser>
        <c:dLbls>
          <c:numFmt formatCode="#,##0" sourceLinked="0"/>
          <c:txPr>
            <a:bodyPr/>
            <a:lstStyle/>
            <a:p>
              <a:pPr>
                <a:defRPr b="0" i="0" strike="noStrike" sz="1100" u="none">
                  <a:solidFill>
                    <a:srgbClr val="1A1A1A"/>
                  </a:solidFill>
                  <a:latin typeface="Open Sans"/>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Open Sans"/>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E5DE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Open Sans"/>
              </a:defRPr>
            </a:pPr>
            <a:endParaRPr lang="en-US"/>
          </a:p>
        </c:txPr>
        <c:crossAx val="2094734554"/>
        <c:crosses val="autoZero"/>
        <c:crossBetween val="between"/>
        <c:majorUnit val="8"/>
      </c:valAx>
      <c:spPr>
        <a:noFill/>
        <a:ln>
          <a:noFill/>
        </a:ln>
        <a:effectLst/>
      </c:spPr>
    </c:plotArea>
    <c:legend>
      <c:legendPos val="b"/>
      <c:overlay val="0"/>
      <c:txPr>
        <a:bodyPr/>
        <a:lstStyle/>
        <a:p>
          <a:pPr>
            <a:defRPr sz="1100">
              <a:solidFill>
                <a:srgbClr val="1A1A1A"/>
              </a:solidFill>
              <a:latin typeface="Open Sans"/>
              <a:cs typeface="Open Sans"/>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95959"/>
                </a:solidFill>
                <a:latin typeface="Open Sans"/>
              </a:defRPr>
            </a:pPr>
            <a:r>
              <a:rPr sz="1100" b="0" i="0" u="none" strike="noStrike">
                <a:solidFill>
                  <a:srgbClr val="595959"/>
                </a:solidFill>
                <a:latin typeface="Open Sans"/>
              </a:rPr>
              <a:t>Cost of a UK Cyber Security MSc to a Sri Lankan student, LKR millions</a:t>
            </a:r>
          </a:p>
        </c:rich>
      </c:tx>
      <c:layout/>
      <c:overlay val="0"/>
    </c:title>
    <c:autoTitleDeleted val="0"/>
    <c:plotArea>
      <c:layout/>
      <c:barChart>
        <c:barDir val="bar"/>
        <c:grouping val="clustered"/>
        <c:varyColors val="0"/>
        <c:ser>
          <c:idx val="0"/>
          <c:order val="0"/>
          <c:tx>
            <c:strRef>
              <c:f>Sheet1!$B$1</c:f>
              <c:strCache>
                <c:ptCount val="1"/>
                <c:pt idx="0">
                  <c:v>LKR millions</c:v>
                </c:pt>
              </c:strCache>
            </c:strRef>
          </c:tx>
          <c:spPr>
            <a:solidFill>
              <a:srgbClr val="EB5600"/>
            </a:solidFill>
            <a:effectLst/>
          </c:spPr>
          <c:invertIfNegative val="0"/>
          <c:dLbls>
            <c:numFmt formatCode="0.0" sourceLinked="0"/>
            <c:txPr>
              <a:bodyPr/>
              <a:lstStyle/>
              <a:p>
                <a:pPr>
                  <a:defRPr b="0" i="0" strike="noStrike" sz="1100" u="none">
                    <a:solidFill>
                      <a:srgbClr val="1A1A1A"/>
                    </a:solidFill>
                    <a:latin typeface="Open Sans"/>
                  </a:defRPr>
                </a:pPr>
              </a:p>
            </c:txPr>
            <c:showLegendKey val="0"/>
            <c:showVal val="1"/>
            <c:showCatName val="0"/>
            <c:showSerName val="0"/>
            <c:showPercent val="0"/>
            <c:showBubbleSize val="0"/>
            <c:showLeaderLines val="0"/>
          </c:dLbls>
          <c:dPt>
            <c:idx val="0"/>
            <c:invertIfNegative val="0"/>
            <c:bubble3D val="0"/>
            <c:spPr>
              <a:solidFill>
                <a:srgbClr val="EB5600"/>
              </a:solidFill>
              <a:effectLst/>
            </c:spPr>
          </c:dPt>
          <c:dPt>
            <c:idx val="1"/>
            <c:invertIfNegative val="0"/>
            <c:bubble3D val="0"/>
            <c:spPr>
              <a:solidFill>
                <a:srgbClr val="A07848"/>
              </a:solidFill>
              <a:effectLst/>
            </c:spPr>
          </c:dPt>
          <c:dPt>
            <c:idx val="2"/>
            <c:invertIfNegative val="0"/>
            <c:bubble3D val="0"/>
            <c:spPr>
              <a:solidFill>
                <a:srgbClr val="7A5230"/>
              </a:solidFill>
              <a:effectLst/>
            </c:spPr>
          </c:dPt>
          <c:cat>
            <c:multiLvlStrRef>
              <c:f>Sheet1!$A$2:$A$4</c:f>
              <c:multiLvlStrCache>
                <c:ptCount val="3"/>
                <c:lvl>
                  <c:pt idx="0">
                    <c:v>Local UK-partner band, upper</c:v>
                  </c:pt>
                  <c:pt idx="1">
                    <c:v>Essex Online MSc (international fee)</c:v>
                  </c:pt>
                  <c:pt idx="2">
                    <c:v>Essex campus MSc (international tuition only)</c:v>
                  </c:pt>
                </c:lvl>
              </c:multiLvlStrCache>
            </c:multiLvlStrRef>
          </c:cat>
          <c:val>
            <c:numRef>
              <c:f>Sheet1!$B$2:$B$4</c:f>
              <c:numCache>
                <c:formatCode>General</c:formatCode>
                <c:ptCount val="3"/>
                <c:pt idx="0">
                  <c:v>0.78</c:v>
                </c:pt>
                <c:pt idx="1">
                  <c:v>5.9</c:v>
                </c:pt>
                <c:pt idx="2">
                  <c:v>11.1</c:v>
                </c:pt>
              </c:numCache>
            </c:numRef>
          </c:val>
        </c:ser>
        <c:dLbls>
          <c:numFmt formatCode="0.0" sourceLinked="0"/>
          <c:txPr>
            <a:bodyPr/>
            <a:lstStyle/>
            <a:p>
              <a:pPr>
                <a:defRPr b="0" i="0" strike="noStrike" sz="1100" u="none">
                  <a:solidFill>
                    <a:srgbClr val="1A1A1A"/>
                  </a:solidFill>
                  <a:latin typeface="Open San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1A"/>
                </a:solidFill>
                <a:latin typeface="Open Sans"/>
              </a:defRPr>
            </a:pPr>
            <a:endParaRPr lang="en-US"/>
          </a:p>
        </c:txPr>
        <c:crossAx val="2094734552"/>
        <c:crosses val="autoZero"/>
        <c:auto val="1"/>
        <c:lblAlgn val="ctr"/>
        <c:noMultiLvlLbl val="1"/>
      </c:catAx>
      <c:valAx>
        <c:axId val="2094734552"/>
        <c:scaling>
          <c:orientation val="minMax"/>
          <c:max val="14"/>
        </c:scaling>
        <c:delete val="0"/>
        <c:axPos val="b"/>
        <c:majorGridlines>
          <c:spPr>
            <a:ln w="6350" cap="flat">
              <a:solidFill>
                <a:srgbClr val="E5DED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Open Sans"/>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Respondents (of 7)</c:v>
                </c:pt>
              </c:strCache>
            </c:strRef>
          </c:tx>
          <c:spPr>
            <a:solidFill>
              <a:srgbClr val="7A5230"/>
            </a:solidFill>
            <a:effectLst/>
          </c:spPr>
          <c:invertIfNegative val="0"/>
          <c:dLbls>
            <c:numFmt formatCode="#,##0" sourceLinked="0"/>
            <c:txPr>
              <a:bodyPr/>
              <a:lstStyle/>
              <a:p>
                <a:pPr>
                  <a:defRPr b="0" i="0" strike="noStrike" sz="1100" u="none">
                    <a:solidFill>
                      <a:srgbClr val="1A1A1A"/>
                    </a:solidFill>
                    <a:latin typeface="Open Sans"/>
                  </a:defRPr>
                </a:pPr>
              </a:p>
            </c:txPr>
            <c:showLegendKey val="0"/>
            <c:showVal val="1"/>
            <c:showCatName val="0"/>
            <c:showSerName val="0"/>
            <c:showPercent val="0"/>
            <c:showBubbleSize val="0"/>
            <c:showLeaderLines val="0"/>
          </c:dLbls>
          <c:cat>
            <c:multiLvlStrRef>
              <c:f>Sheet1!$A$2:$A$5</c:f>
              <c:multiLvlStrCache>
                <c:ptCount val="4"/>
                <c:lvl>
                  <c:pt idx="0">
                    <c:v>Would sponsor staff (yes)</c:v>
                  </c:pt>
                  <c:pt idx="1">
                    <c:v>Willing to contribute to delivery</c:v>
                  </c:pt>
                  <c:pt idx="2">
                    <c:v>UK Masters is a hiring advantage</c:v>
                  </c:pt>
                  <c:pt idx="3">
                    <c:v>Expect demand to rise</c:v>
                  </c:pt>
                </c:lvl>
              </c:multiLvlStrCache>
            </c:multiLvlStrRef>
          </c:cat>
          <c:val>
            <c:numRef>
              <c:f>Sheet1!$B$2:$B$5</c:f>
              <c:numCache>
                <c:formatCode>General</c:formatCode>
                <c:ptCount val="4"/>
                <c:pt idx="0">
                  <c:v>2</c:v>
                </c:pt>
                <c:pt idx="1">
                  <c:v>6</c:v>
                </c:pt>
                <c:pt idx="2">
                  <c:v>6</c:v>
                </c:pt>
                <c:pt idx="3">
                  <c:v>7</c:v>
                </c:pt>
              </c:numCache>
            </c:numRef>
          </c:val>
        </c:ser>
        <c:dLbls>
          <c:numFmt formatCode="#,##0" sourceLinked="0"/>
          <c:txPr>
            <a:bodyPr/>
            <a:lstStyle/>
            <a:p>
              <a:pPr>
                <a:defRPr b="0" i="0" strike="noStrike" sz="1100" u="none">
                  <a:solidFill>
                    <a:srgbClr val="1A1A1A"/>
                  </a:solidFill>
                  <a:latin typeface="Open Sans"/>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1A"/>
                </a:solidFill>
                <a:latin typeface="Open Sans"/>
              </a:defRPr>
            </a:pPr>
            <a:endParaRPr lang="en-US"/>
          </a:p>
        </c:txPr>
        <c:crossAx val="2094734552"/>
        <c:crosses val="autoZero"/>
        <c:auto val="1"/>
        <c:lblAlgn val="ctr"/>
        <c:noMultiLvlLbl val="1"/>
      </c:catAx>
      <c:valAx>
        <c:axId val="2094734552"/>
        <c:scaling>
          <c:orientation val="minMax"/>
          <c:max val="7"/>
        </c:scaling>
        <c:delete val="0"/>
        <c:axPos val="b"/>
        <c:majorGridlines>
          <c:spPr>
            <a:ln w="6350" cap="flat">
              <a:solidFill>
                <a:srgbClr val="E5DED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Open Sans"/>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Indicative places per intake</c:v>
                </c:pt>
              </c:strCache>
            </c:strRef>
          </c:tx>
          <c:spPr>
            <a:solidFill>
              <a:srgbClr val="7A5230"/>
            </a:solidFill>
            <a:effectLst/>
          </c:spPr>
          <c:invertIfNegative val="0"/>
          <c:dLbls>
            <c:numFmt formatCode="#,##0" sourceLinked="0"/>
            <c:txPr>
              <a:bodyPr/>
              <a:lstStyle/>
              <a:p>
                <a:pPr>
                  <a:defRPr b="0" i="0" strike="noStrike" sz="1200" u="none">
                    <a:solidFill>
                      <a:srgbClr val="1A1A1A"/>
                    </a:solidFill>
                    <a:latin typeface="Open Sans"/>
                  </a:defRPr>
                </a:pPr>
              </a:p>
            </c:txPr>
            <c:showLegendKey val="0"/>
            <c:showVal val="1"/>
            <c:showCatName val="0"/>
            <c:showSerName val="0"/>
            <c:showPercent val="0"/>
            <c:showBubbleSize val="0"/>
            <c:showLeaderLines val="0"/>
          </c:dLbls>
          <c:dPt>
            <c:idx val="0"/>
            <c:invertIfNegative val="0"/>
            <c:bubble3D val="0"/>
            <c:spPr>
              <a:solidFill>
                <a:srgbClr val="7A5230"/>
              </a:solidFill>
              <a:effectLst/>
            </c:spPr>
          </c:dPt>
          <c:dPt>
            <c:idx val="1"/>
            <c:invertIfNegative val="0"/>
            <c:bubble3D val="0"/>
            <c:spPr>
              <a:solidFill>
                <a:srgbClr val="A07848"/>
              </a:solidFill>
              <a:effectLst/>
            </c:spPr>
          </c:dPt>
          <c:dPt>
            <c:idx val="2"/>
            <c:invertIfNegative val="0"/>
            <c:bubble3D val="0"/>
            <c:spPr>
              <a:solidFill>
                <a:srgbClr val="EB5600"/>
              </a:solidFill>
              <a:effectLst/>
            </c:spPr>
          </c:dPt>
          <c:cat>
            <c:multiLvlStrRef>
              <c:f>Sheet1!$A$2:$A$4</c:f>
              <c:multiLvlStrCache>
                <c:ptCount val="3"/>
                <c:lvl>
                  <c:pt idx="0">
                    <c:v>Both lanes, central</c:v>
                  </c:pt>
                  <c:pt idx="1">
                    <c:v>Both lanes, conservative</c:v>
                  </c:pt>
                  <c:pt idx="2">
                    <c:v>Direct lane only, today</c:v>
                  </c:pt>
                </c:lvl>
              </c:multiLvlStrCache>
            </c:multiLvlStrRef>
          </c:cat>
          <c:val>
            <c:numRef>
              <c:f>Sheet1!$B$2:$B$4</c:f>
              <c:numCache>
                <c:formatCode>General</c:formatCode>
                <c:ptCount val="3"/>
                <c:pt idx="0">
                  <c:v>35</c:v>
                </c:pt>
                <c:pt idx="1">
                  <c:v>26</c:v>
                </c:pt>
                <c:pt idx="2">
                  <c:v>10</c:v>
                </c:pt>
              </c:numCache>
            </c:numRef>
          </c:val>
        </c:ser>
        <c:dLbls>
          <c:numFmt formatCode="#,##0" sourceLinked="0"/>
          <c:txPr>
            <a:bodyPr/>
            <a:lstStyle/>
            <a:p>
              <a:pPr>
                <a:defRPr b="0" i="0" strike="noStrike" sz="1200" u="none">
                  <a:solidFill>
                    <a:srgbClr val="1A1A1A"/>
                  </a:solidFill>
                  <a:latin typeface="Open Sans"/>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1A"/>
                </a:solidFill>
                <a:latin typeface="Open Sans"/>
              </a:defRPr>
            </a:pPr>
            <a:endParaRPr lang="en-US"/>
          </a:p>
        </c:txPr>
        <c:crossAx val="2094734552"/>
        <c:crosses val="autoZero"/>
        <c:auto val="1"/>
        <c:lblAlgn val="ctr"/>
        <c:noMultiLvlLbl val="1"/>
      </c:catAx>
      <c:valAx>
        <c:axId val="2094734552"/>
        <c:scaling>
          <c:orientation val="minMax"/>
          <c:max val="60"/>
        </c:scaling>
        <c:delete val="0"/>
        <c:axPos val="b"/>
        <c:majorGridlines>
          <c:spPr>
            <a:ln w="6350" cap="flat">
              <a:solidFill>
                <a:srgbClr val="E5DED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Open Sans"/>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0:45. One sentence: we are asking Essex to franchise its MSc Cyber Security, with the PgDip as an exit award, for evening and weekend delivery at NIBM Colombo. The next fifteen minutes answer the three things your partnerships framework asks: is the partner suitable, is the demand real, and can it be delivered and scaled.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to 2:00. Essex's partnership principles put partner reputation and standing first, and the sustained reputation of Essex as paramount. A statutory body cannot quietly disappear, rebrand or be sold, which is the failure mode UK universities fear most in TNE. The two dates do different work: 1968 is origin, 1976 is legal personality. Computing since 1980, foreign awards since 1996.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to 3:15. The point is operating maturity: external examiners, moderation, partner audits and vendor-standard curricula are already routine. NIBM matches each award to the partner strongest in it, which is why the portfolio has several names on it. If the Coventry question comes, this is the slide to return to: Coventry is the undergraduate partner and that continues; postgraduate cyber is a level the current arrangement does not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 to 4:30. A fit argument, made concrete. Among the UK awards already delivered in Colombo, Essex leads both league tables, and by a wide margin in the Guardian. Research standing, a recognisable name, an award architecture that already includes the exit diploma, and a programme profile that continues what our graduates studied. Refresh the table with the 2027 editions before the meeting. Do not mention Coventry here; if asked, NIBM matches each award to the partner strongest in it, and postgraduate cyber is a level the current arrangement does not cover. Certification is stated honestly: Essex's provisional status beats three of the four local UK awards, which are not on the NCSC list at all, and trails only Westminster; Kingston's certification lapses on 30 September 2026 unless renewed. Whether any of this can be claimed for a franchised delivery is Essex's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to 5:45. The base is established: about 120 computing graduates a year across Software Engineering, IT for Business and the cyber stream, and 346 in the last two and a half years with nowhere to go for a Masters at NIBM. The cyber stream itself is young and small at graduation today, about 20 a year, but degree intake at SOCE is entry to year 3, and those entries have jumped from 17 to 51 per intake, so the direct-entry pool roughly doubles from 2027. A curriculum review and rename to Applied Cybersecurity is pending. The programme is therefore pitched as the postgraduate exit for the whole computing base, with two entry lanes shown on the delivery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to 7:00. The value of the partnership expressed as a number. The top box nearly doubles, 20 to 37. Twenty-three respondents moved up and none moved down; seventeen of them shifted into "very likely", which is exactly what a partnership case needs. The familiarity behind it: Sri Lanka's own school examinations are GCE O/L and A/L, and Edexcel and Cambridge run through the British Council and the international schools, so a UK award is the known currency. State the limits yourself: convenience sample, two days, no fee tested. The UK question followed the NIBM question, so treat the magnitude as slightly overstated and the direction as solid.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 to 8:15. This slide does two jobs. It shows that Essex's own two products sit an order of magnitude above what a Sri Lankan graduate can pay, which is the honest segmentation answer to Essex Online: the franchise serves people who cannot buy either. And it turns the labour-market news into a demand driver: entry-level generalist roles are oversupplied and being compressed by AI, so the graduate who wants to stay employable has to specialise, and the only affordable route to a UK Masters is a locally delivered one. Do not lead with layoffs; lead with specialise or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8:15 to 9:30. Showing the discount is more persuasive than hiding it. Forty-one are positive on a UK award and could start within a year; apply purchase-intent discounting and the central figure is 29, the conservative 21. Applied by lane, the first intake clears a viable cohort on arithmetic Essex can check, before alumni, professionals, or the growth of the direct lane. Fifteen of the nineteen who said within 6 months are still undergraduates, so real intake pressure lands 6 to 12 months after graduation. The planning assumption agreed in negotiation for the first intake is fifteen; that number is not stated on any slide, and the case is that the floor sits comfortably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to 10:30. Seven named senior people, none NIBM staff, independently describe the same deficiency: graduates can operate tools but cannot exercise judgement in live environments. That is a description of a postgraduate learning outcome, which is the strongest thing an industry survey can say for a Masters. Forensics and network security overlap directly with the Essex programme profile as published; the mapping is to that profile, and a module-level mapping is the next step once Essex shares the specification. Cloud, application security and enterprise-risk governance are where local options and the capstone add flavour. All seven expect demand to rise; six of seven rate a UK Masters an advantage; six of seven volunteered to contribute. The seventh response, from a life insurer, adds AI automation and security operations to the curriculum ask, which sits naturally in the capstone and local options. If the single "no difference" is raised, one line only: it comes from within the state-university system, which is not the market this programme serves. Move on. Quote by sector only; respondents did not consent to attributed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 to 11:45. Continuity is the argument: the same industry-and-academia model that delivers the Coventry stream under external oversight extends one level up. Essex gets senior national-university academics with research standing, not lecturers hired for a launch. Essex approves every teacher by name, so a CV pack for every module leader and supervisor is ready on request. Titles as on the Peradeniya department page and Google Scholar; Dr Ratnam's head-of-department appointment is evidenced by the faculty announcement in the evidence pack while the USJ page is down. Both are current module leaders on the undergraduate stream; their place on the postgraduate panel is expected but depends on availability and on Essex's approval of each name, which is why the heading says proposed. Lane one entry has a precedent in Essex Online, which admits a relevant professional qualification; lane two is an NIBM certificate before the Essex programme, not credit within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 to 13:00. Essex's framework says the sustained reputation of Essex is paramount and asks for all risks identified. So we name them. Two are commercial and closable in days: price, staffing paperwork. One is capital and staged. Two need Essex's own answer: channel overlap and certification scope. The bridge row shows we have costed the entry design rather than assumed it. Have the Essex Online segmentation sentence ready aloud; it is the most likely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 to 14:15. Essex's framework warns that small scale is a risk indicator and that too many small partnerships are neither strategic nor sustainable. So show the floor and the layers above it: the direct lane alone is thin today, both lanes together clear a viable cohort, and the uncounted layers sit above that. The first-intake planning assumption of fifteen is well below the conservative floor; do not state it as a cap. Then the ask, specific and dated. Close by pointing to the evidence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Kept in the deck so that any figure challenged in questions can be traced on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14:15 onward. Questions. Likely first three: Essex Online overlap, Coventry, NCSC scope. Answers are in the appendix deck, A1 to A3, and in the question bank in the speaker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84048" y="292608"/>
            <a:ext cx="6400800" cy="548640"/>
          </a:xfrm>
          <a:prstGeom prst="rect">
            <a:avLst/>
          </a:prstGeom>
          <a:noFill/>
          <a:ln/>
        </p:spPr>
        <p:txBody>
          <a:bodyPr wrap="square" lIns="0" tIns="0" rIns="0" bIns="0" rtlCol="0" anchor="t"/>
          <a:lstStyle/>
          <a:p>
            <a:pPr indent="0" marL="0">
              <a:buNone/>
            </a:pPr>
            <a:r>
              <a:rPr lang="en-US" sz="1300" b="1" dirty="0">
                <a:solidFill>
                  <a:srgbClr val="1A1A1A"/>
                </a:solidFill>
                <a:latin typeface="Open Sans" pitchFamily="34" charset="0"/>
                <a:ea typeface="Open Sans" pitchFamily="34" charset="-122"/>
                <a:cs typeface="Open Sans" pitchFamily="34" charset="-120"/>
              </a:rPr>
              <a:t>National Institute of Business Management (NIBM)</a:t>
            </a:r>
            <a:endParaRPr lang="en-US" sz="1300" dirty="0"/>
          </a:p>
          <a:p>
            <a:pPr indent="0" marL="0">
              <a:buNone/>
            </a:pPr>
            <a:r>
              <a:rPr lang="en-US" sz="1300" b="1" dirty="0">
                <a:solidFill>
                  <a:srgbClr val="1A1A1A"/>
                </a:solidFill>
                <a:latin typeface="Open Sans" pitchFamily="34" charset="0"/>
                <a:ea typeface="Open Sans" pitchFamily="34" charset="-122"/>
                <a:cs typeface="Open Sans" pitchFamily="34" charset="-120"/>
              </a:rPr>
              <a:t>School of Computing and Engineering</a:t>
            </a:r>
            <a:endParaRPr lang="en-US" sz="1300" dirty="0"/>
          </a:p>
        </p:txBody>
      </p:sp>
      <p:sp>
        <p:nvSpPr>
          <p:cNvPr id="3" name="Text 1"/>
          <p:cNvSpPr txBox="1"/>
          <p:nvPr/>
        </p:nvSpPr>
        <p:spPr>
          <a:xfrm>
            <a:off x="384048" y="886968"/>
            <a:ext cx="5486400" cy="256032"/>
          </a:xfrm>
          <a:prstGeom prst="rect">
            <a:avLst/>
          </a:prstGeom>
          <a:noFill/>
          <a:ln/>
        </p:spPr>
        <p:txBody>
          <a:bodyPr wrap="square" lIns="0" tIns="0" rIns="0" bIns="0" rtlCol="0" anchor="t"/>
          <a:lstStyle/>
          <a:p>
            <a:pPr indent="0" marL="0">
              <a:buNone/>
            </a:pPr>
            <a:r>
              <a:rPr lang="en-US" sz="1200" b="1" spc="100" kern="0" dirty="0">
                <a:solidFill>
                  <a:srgbClr val="7A5230"/>
                </a:solidFill>
                <a:latin typeface="Open Sans" pitchFamily="34" charset="0"/>
                <a:ea typeface="Open Sans" pitchFamily="34" charset="-122"/>
                <a:cs typeface="Open Sans" pitchFamily="34" charset="-120"/>
              </a:rPr>
              <a:t>PARTNERSHIP PROPOSAL TO THE UNIVERSITY OF ESSEX</a:t>
            </a:r>
            <a:endParaRPr lang="en-US" sz="1200" dirty="0"/>
          </a:p>
        </p:txBody>
      </p:sp>
      <p:sp>
        <p:nvSpPr>
          <p:cNvPr id="4" name="Text 2"/>
          <p:cNvSpPr txBox="1"/>
          <p:nvPr/>
        </p:nvSpPr>
        <p:spPr>
          <a:xfrm>
            <a:off x="384048" y="1188720"/>
            <a:ext cx="5760720" cy="1920240"/>
          </a:xfrm>
          <a:prstGeom prst="rect">
            <a:avLst/>
          </a:prstGeom>
          <a:noFill/>
          <a:ln/>
        </p:spPr>
        <p:txBody>
          <a:bodyPr wrap="square" lIns="0" tIns="0" rIns="0" bIns="0" rtlCol="0" anchor="ctr"/>
          <a:lstStyle/>
          <a:p>
            <a:pPr indent="0" marL="0">
              <a:buNone/>
            </a:pPr>
            <a:r>
              <a:rPr lang="en-US" sz="3800" b="1" dirty="0">
                <a:solidFill>
                  <a:srgbClr val="1A1A1A"/>
                </a:solidFill>
                <a:latin typeface="Open Sans" pitchFamily="34" charset="0"/>
                <a:ea typeface="Open Sans" pitchFamily="34" charset="-122"/>
                <a:cs typeface="Open Sans" pitchFamily="34" charset="-120"/>
              </a:rPr>
              <a:t>MSc Cyber Security</a:t>
            </a:r>
            <a:endParaRPr lang="en-US" sz="3800" dirty="0"/>
          </a:p>
          <a:p>
            <a:pPr indent="0" marL="0">
              <a:buNone/>
            </a:pPr>
            <a:r>
              <a:rPr lang="en-US" sz="3800" b="1" dirty="0">
                <a:solidFill>
                  <a:srgbClr val="1A1A1A"/>
                </a:solidFill>
                <a:latin typeface="Open Sans" pitchFamily="34" charset="0"/>
                <a:ea typeface="Open Sans" pitchFamily="34" charset="-122"/>
                <a:cs typeface="Open Sans" pitchFamily="34" charset="-120"/>
              </a:rPr>
              <a:t>at NIBM</a:t>
            </a:r>
            <a:endParaRPr lang="en-US" sz="3800" dirty="0"/>
          </a:p>
        </p:txBody>
      </p:sp>
      <p:sp>
        <p:nvSpPr>
          <p:cNvPr id="5" name="Shape 3"/>
          <p:cNvSpPr/>
          <p:nvPr/>
        </p:nvSpPr>
        <p:spPr>
          <a:xfrm>
            <a:off x="384048" y="3145536"/>
            <a:ext cx="749808" cy="82296"/>
          </a:xfrm>
          <a:prstGeom prst="rect">
            <a:avLst/>
          </a:prstGeom>
          <a:solidFill>
            <a:srgbClr val="7A5230"/>
          </a:solidFill>
          <a:ln/>
        </p:spPr>
      </p:sp>
      <p:sp>
        <p:nvSpPr>
          <p:cNvPr id="6" name="Shape 4"/>
          <p:cNvSpPr/>
          <p:nvPr/>
        </p:nvSpPr>
        <p:spPr>
          <a:xfrm>
            <a:off x="1188720" y="3145536"/>
            <a:ext cx="384048" cy="82296"/>
          </a:xfrm>
          <a:prstGeom prst="rect">
            <a:avLst/>
          </a:prstGeom>
          <a:solidFill>
            <a:srgbClr val="EB5600"/>
          </a:solidFill>
          <a:ln/>
        </p:spPr>
      </p:sp>
      <p:sp>
        <p:nvSpPr>
          <p:cNvPr id="7" name="Text 5"/>
          <p:cNvSpPr txBox="1"/>
          <p:nvPr/>
        </p:nvSpPr>
        <p:spPr>
          <a:xfrm>
            <a:off x="384048" y="3310128"/>
            <a:ext cx="5303520" cy="438912"/>
          </a:xfrm>
          <a:prstGeom prst="rect">
            <a:avLst/>
          </a:prstGeom>
          <a:noFill/>
          <a:ln/>
        </p:spPr>
        <p:txBody>
          <a:bodyPr wrap="square" lIns="0" tIns="0" rIns="0" bIns="0" rtlCol="0" anchor="t"/>
          <a:lstStyle/>
          <a:p>
            <a:pPr indent="0" marL="0">
              <a:buNone/>
            </a:pPr>
            <a:r>
              <a:rPr lang="en-US" sz="2000" i="1" dirty="0">
                <a:solidFill>
                  <a:srgbClr val="595959"/>
                </a:solidFill>
                <a:latin typeface="Open Sans" pitchFamily="34" charset="0"/>
                <a:ea typeface="Open Sans" pitchFamily="34" charset="-122"/>
                <a:cs typeface="Open Sans" pitchFamily="34" charset="-120"/>
              </a:rPr>
              <a:t>with Postgraduate Diploma exit - a franchise business case</a:t>
            </a:r>
            <a:endParaRPr lang="en-US" sz="2000" dirty="0"/>
          </a:p>
        </p:txBody>
      </p:sp>
      <p:sp>
        <p:nvSpPr>
          <p:cNvPr id="8" name="Text 6"/>
          <p:cNvSpPr txBox="1"/>
          <p:nvPr/>
        </p:nvSpPr>
        <p:spPr>
          <a:xfrm>
            <a:off x="384048" y="4526280"/>
            <a:ext cx="5029200" cy="457200"/>
          </a:xfrm>
          <a:prstGeom prst="rect">
            <a:avLst/>
          </a:prstGeom>
          <a:noFill/>
          <a:ln/>
        </p:spPr>
        <p:txBody>
          <a:bodyPr wrap="square" lIns="0" tIns="0" rIns="0" bIns="0" rtlCol="0" anchor="t"/>
          <a:lstStyle/>
          <a:p>
            <a:pPr indent="0" marL="0">
              <a:buNone/>
            </a:pPr>
            <a:r>
              <a:rPr lang="en-US" sz="1300" dirty="0">
                <a:solidFill>
                  <a:srgbClr val="595959"/>
                </a:solidFill>
                <a:latin typeface="Open Sans" pitchFamily="34" charset="0"/>
                <a:ea typeface="Open Sans" pitchFamily="34" charset="-122"/>
                <a:cs typeface="Open Sans" pitchFamily="34" charset="-120"/>
              </a:rPr>
              <a:t>Niranga Dharmaratna - niranga@nibm.lk</a:t>
            </a:r>
            <a:endParaRPr lang="en-US" sz="1300" dirty="0"/>
          </a:p>
          <a:p>
            <a:pPr indent="0" marL="0">
              <a:buNone/>
            </a:pPr>
            <a:r>
              <a:rPr lang="en-US" sz="1300" dirty="0">
                <a:solidFill>
                  <a:srgbClr val="595959"/>
                </a:solidFill>
                <a:latin typeface="Open Sans" pitchFamily="34" charset="0"/>
                <a:ea typeface="Open Sans" pitchFamily="34" charset="-122"/>
                <a:cs typeface="Open Sans" pitchFamily="34" charset="-120"/>
              </a:rPr>
              <a:t>September 2026 - 15 minutes</a:t>
            </a:r>
            <a:endParaRPr lang="en-US" sz="1300" dirty="0"/>
          </a:p>
        </p:txBody>
      </p:sp>
      <p:pic>
        <p:nvPicPr>
          <p:cNvPr id="9" name="Image 0" descr="preencoded.png">    </p:cNvPr>
          <p:cNvPicPr>
            <a:picLocks noChangeAspect="1"/>
          </p:cNvPicPr>
          <p:nvPr/>
        </p:nvPicPr>
        <p:blipFill>
          <a:blip r:embed="rId1"/>
          <a:stretch>
            <a:fillRect/>
          </a:stretch>
        </p:blipFill>
        <p:spPr>
          <a:xfrm>
            <a:off x="5989320" y="411480"/>
            <a:ext cx="2788920" cy="704088"/>
          </a:xfrm>
          <a:prstGeom prst="rect">
            <a:avLst/>
          </a:prstGeom>
        </p:spPr>
      </p:pic>
      <p:sp>
        <p:nvSpPr>
          <p:cNvPr id="10" name="Shape 7"/>
          <p:cNvSpPr/>
          <p:nvPr/>
        </p:nvSpPr>
        <p:spPr>
          <a:xfrm>
            <a:off x="5989320" y="1600200"/>
            <a:ext cx="2788920" cy="2788920"/>
          </a:xfrm>
          <a:prstGeom prst="rect">
            <a:avLst/>
          </a:prstGeom>
          <a:solidFill>
            <a:srgbClr val="7A5230"/>
          </a:solidFill>
          <a:ln/>
        </p:spPr>
      </p:sp>
      <p:sp>
        <p:nvSpPr>
          <p:cNvPr id="11" name="Text 8"/>
          <p:cNvSpPr txBox="1"/>
          <p:nvPr/>
        </p:nvSpPr>
        <p:spPr>
          <a:xfrm>
            <a:off x="6126480" y="1691640"/>
            <a:ext cx="2560320" cy="685800"/>
          </a:xfrm>
          <a:prstGeom prst="rect">
            <a:avLst/>
          </a:prstGeom>
          <a:noFill/>
          <a:ln/>
        </p:spPr>
        <p:txBody>
          <a:bodyPr wrap="square" lIns="0" tIns="0" rIns="0" bIns="0" rtlCol="0" anchor="t"/>
          <a:lstStyle/>
          <a:p>
            <a:pPr indent="0" marL="0">
              <a:buNone/>
            </a:pPr>
            <a:r>
              <a:rPr lang="en-US" sz="1600" b="1" dirty="0">
                <a:solidFill>
                  <a:srgbClr val="FFFFFF"/>
                </a:solidFill>
                <a:latin typeface="Open Sans" pitchFamily="34" charset="0"/>
                <a:ea typeface="Open Sans" pitchFamily="34" charset="-122"/>
                <a:cs typeface="Open Sans" pitchFamily="34" charset="-120"/>
              </a:rPr>
              <a:t>MSc Cyber Security</a:t>
            </a:r>
            <a:endParaRPr lang="en-US" sz="1600" dirty="0"/>
          </a:p>
        </p:txBody>
      </p:sp>
      <p:sp>
        <p:nvSpPr>
          <p:cNvPr id="12" name="Shape 9"/>
          <p:cNvSpPr/>
          <p:nvPr/>
        </p:nvSpPr>
        <p:spPr>
          <a:xfrm>
            <a:off x="6217920" y="2468880"/>
            <a:ext cx="2331720" cy="1234440"/>
          </a:xfrm>
          <a:prstGeom prst="rect">
            <a:avLst/>
          </a:prstGeom>
          <a:solidFill>
            <a:srgbClr val="C4A882"/>
          </a:solidFill>
          <a:ln/>
        </p:spPr>
      </p:sp>
      <p:sp>
        <p:nvSpPr>
          <p:cNvPr id="13" name="Text 10"/>
          <p:cNvSpPr txBox="1"/>
          <p:nvPr/>
        </p:nvSpPr>
        <p:spPr>
          <a:xfrm>
            <a:off x="6355080" y="2560320"/>
            <a:ext cx="2103120" cy="548640"/>
          </a:xfrm>
          <a:prstGeom prst="rect">
            <a:avLst/>
          </a:prstGeom>
          <a:noFill/>
          <a:ln/>
        </p:spPr>
        <p:txBody>
          <a:bodyPr wrap="square" lIns="0" tIns="0" rIns="0" bIns="0" rtlCol="0" anchor="t"/>
          <a:lstStyle/>
          <a:p>
            <a:pPr indent="0" marL="0">
              <a:buNone/>
            </a:pPr>
            <a:r>
              <a:rPr lang="en-US" sz="1600" b="1" dirty="0">
                <a:solidFill>
                  <a:srgbClr val="1A1A1A"/>
                </a:solidFill>
                <a:latin typeface="Open Sans" pitchFamily="34" charset="0"/>
                <a:ea typeface="Open Sans" pitchFamily="34" charset="-122"/>
                <a:cs typeface="Open Sans" pitchFamily="34" charset="-120"/>
              </a:rPr>
              <a:t>PgDip exit award</a:t>
            </a:r>
            <a:endParaRPr lang="en-US" sz="1600" dirty="0"/>
          </a:p>
        </p:txBody>
      </p:sp>
      <p:sp>
        <p:nvSpPr>
          <p:cNvPr id="14" name="Shape 11"/>
          <p:cNvSpPr/>
          <p:nvPr/>
        </p:nvSpPr>
        <p:spPr>
          <a:xfrm>
            <a:off x="6355080" y="3154680"/>
            <a:ext cx="2057400" cy="411480"/>
          </a:xfrm>
          <a:prstGeom prst="rect">
            <a:avLst/>
          </a:prstGeom>
          <a:solidFill>
            <a:srgbClr val="EB5600"/>
          </a:solidFill>
          <a:ln/>
        </p:spPr>
      </p:sp>
      <p:sp>
        <p:nvSpPr>
          <p:cNvPr id="15" name="Text 12"/>
          <p:cNvSpPr txBox="1"/>
          <p:nvPr/>
        </p:nvSpPr>
        <p:spPr>
          <a:xfrm>
            <a:off x="6355080" y="3154680"/>
            <a:ext cx="20574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Open Sans" pitchFamily="34" charset="0"/>
                <a:ea typeface="Open Sans" pitchFamily="34" charset="-122"/>
                <a:cs typeface="Open Sans" pitchFamily="34" charset="-120"/>
              </a:rPr>
              <a:t>Taught at NIBM Colombo</a:t>
            </a:r>
            <a:endParaRPr lang="en-US" sz="1100" dirty="0"/>
          </a:p>
        </p:txBody>
      </p:sp>
      <p:sp>
        <p:nvSpPr>
          <p:cNvPr id="16" name="Text 13"/>
          <p:cNvSpPr txBox="1"/>
          <p:nvPr/>
        </p:nvSpPr>
        <p:spPr>
          <a:xfrm>
            <a:off x="6126480" y="3886200"/>
            <a:ext cx="2560320" cy="411480"/>
          </a:xfrm>
          <a:prstGeom prst="rect">
            <a:avLst/>
          </a:prstGeom>
          <a:noFill/>
          <a:ln/>
        </p:spPr>
        <p:txBody>
          <a:bodyPr wrap="square" lIns="0" tIns="0" rIns="0" bIns="0" rtlCol="0" anchor="ctr"/>
          <a:lstStyle/>
          <a:p>
            <a:pPr indent="0" marL="0">
              <a:buNone/>
            </a:pPr>
            <a:r>
              <a:rPr lang="en-US" sz="1200" i="1" dirty="0">
                <a:solidFill>
                  <a:srgbClr val="FFFFFF"/>
                </a:solidFill>
                <a:latin typeface="Open Sans" pitchFamily="34" charset="0"/>
                <a:ea typeface="Open Sans" pitchFamily="34" charset="-122"/>
                <a:cs typeface="Open Sans" pitchFamily="34" charset="-120"/>
              </a:rPr>
              <a:t>Essex award - Essex standards - NIBM delivery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A statutory institution since 1976</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 - WHO NIBM IS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2</a:t>
            </a:r>
            <a:endParaRPr lang="en-US" sz="1100" dirty="0"/>
          </a:p>
        </p:txBody>
      </p:sp>
      <p:sp>
        <p:nvSpPr>
          <p:cNvPr id="8" name="Text 6"/>
          <p:cNvSpPr txBox="1"/>
          <p:nvPr/>
        </p:nvSpPr>
        <p:spPr>
          <a:xfrm>
            <a:off x="411480" y="1353312"/>
            <a:ext cx="8321040" cy="384048"/>
          </a:xfrm>
          <a:prstGeom prst="rect">
            <a:avLst/>
          </a:prstGeom>
          <a:noFill/>
          <a:ln/>
        </p:spPr>
        <p:txBody>
          <a:bodyPr wrap="square" lIns="0" tIns="0" rIns="0" bIns="0" rtlCol="0" anchor="t"/>
          <a:lstStyle/>
          <a:p>
            <a:pPr indent="0" marL="0">
              <a:buNone/>
            </a:pPr>
            <a:r>
              <a:rPr lang="en-US" sz="1300" i="1" dirty="0">
                <a:solidFill>
                  <a:srgbClr val="595959"/>
                </a:solidFill>
                <a:latin typeface="Open Sans" pitchFamily="34" charset="0"/>
                <a:ea typeface="Open Sans" pitchFamily="34" charset="-122"/>
                <a:cs typeface="Open Sans" pitchFamily="34" charset="-120"/>
              </a:rPr>
              <a:t>Created by statute, accountable to a ministry, running foreign university awards for thirty years. The claim is permanence, not age.</a:t>
            </a:r>
            <a:endParaRPr lang="en-US" sz="1300" dirty="0"/>
          </a:p>
        </p:txBody>
      </p:sp>
      <p:sp>
        <p:nvSpPr>
          <p:cNvPr id="9" name="Shape 7"/>
          <p:cNvSpPr/>
          <p:nvPr/>
        </p:nvSpPr>
        <p:spPr>
          <a:xfrm>
            <a:off x="777240" y="2862072"/>
            <a:ext cx="7589520" cy="36576"/>
          </a:xfrm>
          <a:prstGeom prst="rect">
            <a:avLst/>
          </a:prstGeom>
          <a:solidFill>
            <a:srgbClr val="C4A882"/>
          </a:solidFill>
          <a:ln/>
        </p:spPr>
      </p:sp>
      <p:sp>
        <p:nvSpPr>
          <p:cNvPr id="10" name="Shape 8"/>
          <p:cNvSpPr/>
          <p:nvPr/>
        </p:nvSpPr>
        <p:spPr>
          <a:xfrm>
            <a:off x="676656" y="2779776"/>
            <a:ext cx="201168" cy="201168"/>
          </a:xfrm>
          <a:prstGeom prst="ellipse">
            <a:avLst/>
          </a:prstGeom>
          <a:solidFill>
            <a:srgbClr val="7A5230"/>
          </a:solidFill>
          <a:ln/>
        </p:spPr>
      </p:sp>
      <p:sp>
        <p:nvSpPr>
          <p:cNvPr id="11" name="Text 9"/>
          <p:cNvSpPr txBox="1"/>
          <p:nvPr/>
        </p:nvSpPr>
        <p:spPr>
          <a:xfrm>
            <a:off x="137160" y="1947672"/>
            <a:ext cx="1280160" cy="256032"/>
          </a:xfrm>
          <a:prstGeom prst="rect">
            <a:avLst/>
          </a:prstGeom>
          <a:noFill/>
          <a:ln/>
        </p:spPr>
        <p:txBody>
          <a:bodyPr wrap="square" lIns="0" tIns="0" rIns="0" bIns="0" rtlCol="0" anchor="t"/>
          <a:lstStyle/>
          <a:p>
            <a:pPr algn="ctr" indent="0" marL="0">
              <a:buNone/>
            </a:pPr>
            <a:r>
              <a:rPr lang="en-US" sz="1400" b="1" dirty="0">
                <a:solidFill>
                  <a:srgbClr val="7A5230"/>
                </a:solidFill>
                <a:latin typeface="Open Sans" pitchFamily="34" charset="0"/>
                <a:ea typeface="Open Sans" pitchFamily="34" charset="-122"/>
                <a:cs typeface="Open Sans" pitchFamily="34" charset="-120"/>
              </a:rPr>
              <a:t>1968</a:t>
            </a:r>
            <a:endParaRPr lang="en-US" sz="1400" dirty="0"/>
          </a:p>
        </p:txBody>
      </p:sp>
      <p:sp>
        <p:nvSpPr>
          <p:cNvPr id="12" name="Text 10"/>
          <p:cNvSpPr txBox="1"/>
          <p:nvPr/>
        </p:nvSpPr>
        <p:spPr>
          <a:xfrm>
            <a:off x="137160" y="2203704"/>
            <a:ext cx="1280160" cy="566928"/>
          </a:xfrm>
          <a:prstGeom prst="rect">
            <a:avLst/>
          </a:prstGeom>
          <a:noFill/>
          <a:ln/>
        </p:spPr>
        <p:txBody>
          <a:bodyPr wrap="square" lIns="0" tIns="0" rIns="0" bIns="0" rtlCol="0" anchor="t"/>
          <a:lstStyle/>
          <a:p>
            <a:pPr algn="ctr" indent="0" marL="0">
              <a:buNone/>
            </a:pPr>
            <a:r>
              <a:rPr lang="en-US" sz="1100" dirty="0">
                <a:solidFill>
                  <a:srgbClr val="1A1A1A"/>
                </a:solidFill>
                <a:latin typeface="Open Sans" pitchFamily="34" charset="0"/>
                <a:ea typeface="Open Sans" pitchFamily="34" charset="-122"/>
                <a:cs typeface="Open Sans" pitchFamily="34" charset="-120"/>
              </a:rPr>
              <a:t>Founded with UNDP and ILO support</a:t>
            </a:r>
            <a:endParaRPr lang="en-US" sz="1100" dirty="0"/>
          </a:p>
        </p:txBody>
      </p:sp>
      <p:sp>
        <p:nvSpPr>
          <p:cNvPr id="13" name="Shape 11"/>
          <p:cNvSpPr/>
          <p:nvPr/>
        </p:nvSpPr>
        <p:spPr>
          <a:xfrm>
            <a:off x="1941576" y="2779776"/>
            <a:ext cx="201168" cy="201168"/>
          </a:xfrm>
          <a:prstGeom prst="ellipse">
            <a:avLst/>
          </a:prstGeom>
          <a:solidFill>
            <a:srgbClr val="EB5600"/>
          </a:solidFill>
          <a:ln/>
        </p:spPr>
      </p:sp>
      <p:sp>
        <p:nvSpPr>
          <p:cNvPr id="14" name="Text 12"/>
          <p:cNvSpPr txBox="1"/>
          <p:nvPr/>
        </p:nvSpPr>
        <p:spPr>
          <a:xfrm>
            <a:off x="1402080" y="3081528"/>
            <a:ext cx="1280160" cy="256032"/>
          </a:xfrm>
          <a:prstGeom prst="rect">
            <a:avLst/>
          </a:prstGeom>
          <a:noFill/>
          <a:ln/>
        </p:spPr>
        <p:txBody>
          <a:bodyPr wrap="square" lIns="0" tIns="0" rIns="0" bIns="0" rtlCol="0" anchor="t"/>
          <a:lstStyle/>
          <a:p>
            <a:pPr algn="ctr" indent="0" marL="0">
              <a:buNone/>
            </a:pPr>
            <a:r>
              <a:rPr lang="en-US" sz="1400" b="1" dirty="0">
                <a:solidFill>
                  <a:srgbClr val="EB5600"/>
                </a:solidFill>
                <a:latin typeface="Open Sans" pitchFamily="34" charset="0"/>
                <a:ea typeface="Open Sans" pitchFamily="34" charset="-122"/>
                <a:cs typeface="Open Sans" pitchFamily="34" charset="-120"/>
              </a:rPr>
              <a:t>1976</a:t>
            </a:r>
            <a:endParaRPr lang="en-US" sz="1400" dirty="0"/>
          </a:p>
        </p:txBody>
      </p:sp>
      <p:sp>
        <p:nvSpPr>
          <p:cNvPr id="15" name="Text 13"/>
          <p:cNvSpPr txBox="1"/>
          <p:nvPr/>
        </p:nvSpPr>
        <p:spPr>
          <a:xfrm>
            <a:off x="1402080" y="3337560"/>
            <a:ext cx="1280160" cy="566928"/>
          </a:xfrm>
          <a:prstGeom prst="rect">
            <a:avLst/>
          </a:prstGeom>
          <a:noFill/>
          <a:ln/>
        </p:spPr>
        <p:txBody>
          <a:bodyPr wrap="square" lIns="0" tIns="0" rIns="0" bIns="0" rtlCol="0" anchor="t"/>
          <a:lstStyle/>
          <a:p>
            <a:pPr algn="ctr" indent="0" marL="0">
              <a:buNone/>
            </a:pPr>
            <a:r>
              <a:rPr lang="en-US" sz="1100" dirty="0">
                <a:solidFill>
                  <a:srgbClr val="1A1A1A"/>
                </a:solidFill>
                <a:latin typeface="Open Sans" pitchFamily="34" charset="0"/>
                <a:ea typeface="Open Sans" pitchFamily="34" charset="-122"/>
                <a:cs typeface="Open Sans" pitchFamily="34" charset="-120"/>
              </a:rPr>
              <a:t>Act of Parliament No. 23 of 1976</a:t>
            </a:r>
            <a:endParaRPr lang="en-US" sz="1100" dirty="0"/>
          </a:p>
        </p:txBody>
      </p:sp>
      <p:sp>
        <p:nvSpPr>
          <p:cNvPr id="16" name="Shape 14"/>
          <p:cNvSpPr/>
          <p:nvPr/>
        </p:nvSpPr>
        <p:spPr>
          <a:xfrm>
            <a:off x="3206496" y="2779776"/>
            <a:ext cx="201168" cy="201168"/>
          </a:xfrm>
          <a:prstGeom prst="ellipse">
            <a:avLst/>
          </a:prstGeom>
          <a:solidFill>
            <a:srgbClr val="7A5230"/>
          </a:solidFill>
          <a:ln/>
        </p:spPr>
      </p:sp>
      <p:sp>
        <p:nvSpPr>
          <p:cNvPr id="17" name="Text 15"/>
          <p:cNvSpPr txBox="1"/>
          <p:nvPr/>
        </p:nvSpPr>
        <p:spPr>
          <a:xfrm>
            <a:off x="2667000" y="1947672"/>
            <a:ext cx="1280160" cy="256032"/>
          </a:xfrm>
          <a:prstGeom prst="rect">
            <a:avLst/>
          </a:prstGeom>
          <a:noFill/>
          <a:ln/>
        </p:spPr>
        <p:txBody>
          <a:bodyPr wrap="square" lIns="0" tIns="0" rIns="0" bIns="0" rtlCol="0" anchor="t"/>
          <a:lstStyle/>
          <a:p>
            <a:pPr algn="ctr" indent="0" marL="0">
              <a:buNone/>
            </a:pPr>
            <a:r>
              <a:rPr lang="en-US" sz="1400" b="1" dirty="0">
                <a:solidFill>
                  <a:srgbClr val="7A5230"/>
                </a:solidFill>
                <a:latin typeface="Open Sans" pitchFamily="34" charset="0"/>
                <a:ea typeface="Open Sans" pitchFamily="34" charset="-122"/>
                <a:cs typeface="Open Sans" pitchFamily="34" charset="-120"/>
              </a:rPr>
              <a:t>1980</a:t>
            </a:r>
            <a:endParaRPr lang="en-US" sz="1400" dirty="0"/>
          </a:p>
        </p:txBody>
      </p:sp>
      <p:sp>
        <p:nvSpPr>
          <p:cNvPr id="18" name="Text 16"/>
          <p:cNvSpPr txBox="1"/>
          <p:nvPr/>
        </p:nvSpPr>
        <p:spPr>
          <a:xfrm>
            <a:off x="2667000" y="2203704"/>
            <a:ext cx="1280160" cy="566928"/>
          </a:xfrm>
          <a:prstGeom prst="rect">
            <a:avLst/>
          </a:prstGeom>
          <a:noFill/>
          <a:ln/>
        </p:spPr>
        <p:txBody>
          <a:bodyPr wrap="square" lIns="0" tIns="0" rIns="0" bIns="0" rtlCol="0" anchor="t"/>
          <a:lstStyle/>
          <a:p>
            <a:pPr algn="ctr" indent="0" marL="0">
              <a:buNone/>
            </a:pPr>
            <a:r>
              <a:rPr lang="en-US" sz="1100" dirty="0">
                <a:solidFill>
                  <a:srgbClr val="1A1A1A"/>
                </a:solidFill>
                <a:latin typeface="Open Sans" pitchFamily="34" charset="0"/>
                <a:ea typeface="Open Sans" pitchFamily="34" charset="-122"/>
                <a:cs typeface="Open Sans" pitchFamily="34" charset="-120"/>
              </a:rPr>
              <a:t>First Diploma in Computer System Design</a:t>
            </a:r>
            <a:endParaRPr lang="en-US" sz="1100" dirty="0"/>
          </a:p>
        </p:txBody>
      </p:sp>
      <p:sp>
        <p:nvSpPr>
          <p:cNvPr id="19" name="Shape 17"/>
          <p:cNvSpPr/>
          <p:nvPr/>
        </p:nvSpPr>
        <p:spPr>
          <a:xfrm>
            <a:off x="4471416" y="2779776"/>
            <a:ext cx="201168" cy="201168"/>
          </a:xfrm>
          <a:prstGeom prst="ellipse">
            <a:avLst/>
          </a:prstGeom>
          <a:solidFill>
            <a:srgbClr val="7A5230"/>
          </a:solidFill>
          <a:ln/>
        </p:spPr>
      </p:sp>
      <p:sp>
        <p:nvSpPr>
          <p:cNvPr id="20" name="Text 18"/>
          <p:cNvSpPr txBox="1"/>
          <p:nvPr/>
        </p:nvSpPr>
        <p:spPr>
          <a:xfrm>
            <a:off x="3931920" y="3081528"/>
            <a:ext cx="1280160" cy="256032"/>
          </a:xfrm>
          <a:prstGeom prst="rect">
            <a:avLst/>
          </a:prstGeom>
          <a:noFill/>
          <a:ln/>
        </p:spPr>
        <p:txBody>
          <a:bodyPr wrap="square" lIns="0" tIns="0" rIns="0" bIns="0" rtlCol="0" anchor="t"/>
          <a:lstStyle/>
          <a:p>
            <a:pPr algn="ctr" indent="0" marL="0">
              <a:buNone/>
            </a:pPr>
            <a:r>
              <a:rPr lang="en-US" sz="1400" b="1" dirty="0">
                <a:solidFill>
                  <a:srgbClr val="7A5230"/>
                </a:solidFill>
                <a:latin typeface="Open Sans" pitchFamily="34" charset="0"/>
                <a:ea typeface="Open Sans" pitchFamily="34" charset="-122"/>
                <a:cs typeface="Open Sans" pitchFamily="34" charset="-120"/>
              </a:rPr>
              <a:t>1996</a:t>
            </a:r>
            <a:endParaRPr lang="en-US" sz="1400" dirty="0"/>
          </a:p>
        </p:txBody>
      </p:sp>
      <p:sp>
        <p:nvSpPr>
          <p:cNvPr id="21" name="Text 19"/>
          <p:cNvSpPr txBox="1"/>
          <p:nvPr/>
        </p:nvSpPr>
        <p:spPr>
          <a:xfrm>
            <a:off x="3931920" y="3337560"/>
            <a:ext cx="1280160" cy="566928"/>
          </a:xfrm>
          <a:prstGeom prst="rect">
            <a:avLst/>
          </a:prstGeom>
          <a:noFill/>
          <a:ln/>
        </p:spPr>
        <p:txBody>
          <a:bodyPr wrap="square" lIns="0" tIns="0" rIns="0" bIns="0" rtlCol="0" anchor="t"/>
          <a:lstStyle/>
          <a:p>
            <a:pPr algn="ctr" indent="0" marL="0">
              <a:buNone/>
            </a:pPr>
            <a:r>
              <a:rPr lang="en-US" sz="1100" dirty="0">
                <a:solidFill>
                  <a:srgbClr val="1A1A1A"/>
                </a:solidFill>
                <a:latin typeface="Open Sans" pitchFamily="34" charset="0"/>
                <a:ea typeface="Open Sans" pitchFamily="34" charset="-122"/>
                <a:cs typeface="Open Sans" pitchFamily="34" charset="-120"/>
              </a:rPr>
              <a:t>First foreign award (UCD); Kandy campus</a:t>
            </a:r>
            <a:endParaRPr lang="en-US" sz="1100" dirty="0"/>
          </a:p>
        </p:txBody>
      </p:sp>
      <p:sp>
        <p:nvSpPr>
          <p:cNvPr id="22" name="Shape 20"/>
          <p:cNvSpPr/>
          <p:nvPr/>
        </p:nvSpPr>
        <p:spPr>
          <a:xfrm>
            <a:off x="5736336" y="2779776"/>
            <a:ext cx="201168" cy="201168"/>
          </a:xfrm>
          <a:prstGeom prst="ellipse">
            <a:avLst/>
          </a:prstGeom>
          <a:solidFill>
            <a:srgbClr val="7A5230"/>
          </a:solidFill>
          <a:ln/>
        </p:spPr>
      </p:sp>
      <p:sp>
        <p:nvSpPr>
          <p:cNvPr id="23" name="Text 21"/>
          <p:cNvSpPr txBox="1"/>
          <p:nvPr/>
        </p:nvSpPr>
        <p:spPr>
          <a:xfrm>
            <a:off x="5196840" y="1947672"/>
            <a:ext cx="1280160" cy="256032"/>
          </a:xfrm>
          <a:prstGeom prst="rect">
            <a:avLst/>
          </a:prstGeom>
          <a:noFill/>
          <a:ln/>
        </p:spPr>
        <p:txBody>
          <a:bodyPr wrap="square" lIns="0" tIns="0" rIns="0" bIns="0" rtlCol="0" anchor="t"/>
          <a:lstStyle/>
          <a:p>
            <a:pPr algn="ctr" indent="0" marL="0">
              <a:buNone/>
            </a:pPr>
            <a:r>
              <a:rPr lang="en-US" sz="1400" b="1" dirty="0">
                <a:solidFill>
                  <a:srgbClr val="7A5230"/>
                </a:solidFill>
                <a:latin typeface="Open Sans" pitchFamily="34" charset="0"/>
                <a:ea typeface="Open Sans" pitchFamily="34" charset="-122"/>
                <a:cs typeface="Open Sans" pitchFamily="34" charset="-120"/>
              </a:rPr>
              <a:t>2010</a:t>
            </a:r>
            <a:endParaRPr lang="en-US" sz="1400" dirty="0"/>
          </a:p>
        </p:txBody>
      </p:sp>
      <p:sp>
        <p:nvSpPr>
          <p:cNvPr id="24" name="Text 22"/>
          <p:cNvSpPr txBox="1"/>
          <p:nvPr/>
        </p:nvSpPr>
        <p:spPr>
          <a:xfrm>
            <a:off x="5196840" y="2203704"/>
            <a:ext cx="1280160" cy="566928"/>
          </a:xfrm>
          <a:prstGeom prst="rect">
            <a:avLst/>
          </a:prstGeom>
          <a:noFill/>
          <a:ln/>
        </p:spPr>
        <p:txBody>
          <a:bodyPr wrap="square" lIns="0" tIns="0" rIns="0" bIns="0" rtlCol="0" anchor="t"/>
          <a:lstStyle/>
          <a:p>
            <a:pPr algn="ctr" indent="0" marL="0">
              <a:buNone/>
            </a:pPr>
            <a:r>
              <a:rPr lang="en-US" sz="1100" dirty="0">
                <a:solidFill>
                  <a:srgbClr val="1A1A1A"/>
                </a:solidFill>
                <a:latin typeface="Open Sans" pitchFamily="34" charset="0"/>
                <a:ea typeface="Open Sans" pitchFamily="34" charset="-122"/>
                <a:cs typeface="Open Sans" pitchFamily="34" charset="-120"/>
              </a:rPr>
              <a:t>Galle campus opens</a:t>
            </a:r>
            <a:endParaRPr lang="en-US" sz="1100" dirty="0"/>
          </a:p>
        </p:txBody>
      </p:sp>
      <p:sp>
        <p:nvSpPr>
          <p:cNvPr id="25" name="Shape 23"/>
          <p:cNvSpPr/>
          <p:nvPr/>
        </p:nvSpPr>
        <p:spPr>
          <a:xfrm>
            <a:off x="7001256" y="2779776"/>
            <a:ext cx="201168" cy="201168"/>
          </a:xfrm>
          <a:prstGeom prst="ellipse">
            <a:avLst/>
          </a:prstGeom>
          <a:solidFill>
            <a:srgbClr val="7A5230"/>
          </a:solidFill>
          <a:ln/>
        </p:spPr>
      </p:sp>
      <p:sp>
        <p:nvSpPr>
          <p:cNvPr id="26" name="Text 24"/>
          <p:cNvSpPr txBox="1"/>
          <p:nvPr/>
        </p:nvSpPr>
        <p:spPr>
          <a:xfrm>
            <a:off x="6461760" y="3081528"/>
            <a:ext cx="1280160" cy="256032"/>
          </a:xfrm>
          <a:prstGeom prst="rect">
            <a:avLst/>
          </a:prstGeom>
          <a:noFill/>
          <a:ln/>
        </p:spPr>
        <p:txBody>
          <a:bodyPr wrap="square" lIns="0" tIns="0" rIns="0" bIns="0" rtlCol="0" anchor="t"/>
          <a:lstStyle/>
          <a:p>
            <a:pPr algn="ctr" indent="0" marL="0">
              <a:buNone/>
            </a:pPr>
            <a:r>
              <a:rPr lang="en-US" sz="1400" b="1" dirty="0">
                <a:solidFill>
                  <a:srgbClr val="7A5230"/>
                </a:solidFill>
                <a:latin typeface="Open Sans" pitchFamily="34" charset="0"/>
                <a:ea typeface="Open Sans" pitchFamily="34" charset="-122"/>
                <a:cs typeface="Open Sans" pitchFamily="34" charset="-120"/>
              </a:rPr>
              <a:t>2017</a:t>
            </a:r>
            <a:endParaRPr lang="en-US" sz="1400" dirty="0"/>
          </a:p>
        </p:txBody>
      </p:sp>
      <p:sp>
        <p:nvSpPr>
          <p:cNvPr id="27" name="Text 25"/>
          <p:cNvSpPr txBox="1"/>
          <p:nvPr/>
        </p:nvSpPr>
        <p:spPr>
          <a:xfrm>
            <a:off x="6461760" y="3337560"/>
            <a:ext cx="1280160" cy="566928"/>
          </a:xfrm>
          <a:prstGeom prst="rect">
            <a:avLst/>
          </a:prstGeom>
          <a:noFill/>
          <a:ln/>
        </p:spPr>
        <p:txBody>
          <a:bodyPr wrap="square" lIns="0" tIns="0" rIns="0" bIns="0" rtlCol="0" anchor="t"/>
          <a:lstStyle/>
          <a:p>
            <a:pPr algn="ctr" indent="0" marL="0">
              <a:buNone/>
            </a:pPr>
            <a:r>
              <a:rPr lang="en-US" sz="1100" dirty="0">
                <a:solidFill>
                  <a:srgbClr val="1A1A1A"/>
                </a:solidFill>
                <a:latin typeface="Open Sans" pitchFamily="34" charset="0"/>
                <a:ea typeface="Open Sans" pitchFamily="34" charset="-122"/>
                <a:cs typeface="Open Sans" pitchFamily="34" charset="-120"/>
              </a:rPr>
              <a:t>Coventry University degrees begin</a:t>
            </a:r>
            <a:endParaRPr lang="en-US" sz="1100" dirty="0"/>
          </a:p>
        </p:txBody>
      </p:sp>
      <p:sp>
        <p:nvSpPr>
          <p:cNvPr id="28" name="Shape 26"/>
          <p:cNvSpPr/>
          <p:nvPr/>
        </p:nvSpPr>
        <p:spPr>
          <a:xfrm>
            <a:off x="8266176" y="2779776"/>
            <a:ext cx="201168" cy="201168"/>
          </a:xfrm>
          <a:prstGeom prst="ellipse">
            <a:avLst/>
          </a:prstGeom>
          <a:solidFill>
            <a:srgbClr val="7A5230"/>
          </a:solidFill>
          <a:ln/>
        </p:spPr>
      </p:sp>
      <p:sp>
        <p:nvSpPr>
          <p:cNvPr id="29" name="Text 27"/>
          <p:cNvSpPr txBox="1"/>
          <p:nvPr/>
        </p:nvSpPr>
        <p:spPr>
          <a:xfrm>
            <a:off x="7726680" y="1947672"/>
            <a:ext cx="1280160" cy="256032"/>
          </a:xfrm>
          <a:prstGeom prst="rect">
            <a:avLst/>
          </a:prstGeom>
          <a:noFill/>
          <a:ln/>
        </p:spPr>
        <p:txBody>
          <a:bodyPr wrap="square" lIns="0" tIns="0" rIns="0" bIns="0" rtlCol="0" anchor="t"/>
          <a:lstStyle/>
          <a:p>
            <a:pPr algn="ctr" indent="0" marL="0">
              <a:buNone/>
            </a:pPr>
            <a:r>
              <a:rPr lang="en-US" sz="1400" b="1" dirty="0">
                <a:solidFill>
                  <a:srgbClr val="7A5230"/>
                </a:solidFill>
                <a:latin typeface="Open Sans" pitchFamily="34" charset="0"/>
                <a:ea typeface="Open Sans" pitchFamily="34" charset="-122"/>
                <a:cs typeface="Open Sans" pitchFamily="34" charset="-120"/>
              </a:rPr>
              <a:t>2026</a:t>
            </a:r>
            <a:endParaRPr lang="en-US" sz="1400" dirty="0"/>
          </a:p>
        </p:txBody>
      </p:sp>
      <p:sp>
        <p:nvSpPr>
          <p:cNvPr id="30" name="Text 28"/>
          <p:cNvSpPr txBox="1"/>
          <p:nvPr/>
        </p:nvSpPr>
        <p:spPr>
          <a:xfrm>
            <a:off x="7726680" y="2203704"/>
            <a:ext cx="1280160" cy="566928"/>
          </a:xfrm>
          <a:prstGeom prst="rect">
            <a:avLst/>
          </a:prstGeom>
          <a:noFill/>
          <a:ln/>
        </p:spPr>
        <p:txBody>
          <a:bodyPr wrap="square" lIns="0" tIns="0" rIns="0" bIns="0" rtlCol="0" anchor="t"/>
          <a:lstStyle/>
          <a:p>
            <a:pPr algn="ctr" indent="0" marL="0">
              <a:buNone/>
            </a:pPr>
            <a:r>
              <a:rPr lang="en-US" sz="1100" dirty="0">
                <a:solidFill>
                  <a:srgbClr val="1A1A1A"/>
                </a:solidFill>
                <a:latin typeface="Open Sans" pitchFamily="34" charset="0"/>
                <a:ea typeface="Open Sans" pitchFamily="34" charset="-122"/>
                <a:cs typeface="Open Sans" pitchFamily="34" charset="-120"/>
              </a:rPr>
              <a:t>~120 computing graduates a year</a:t>
            </a:r>
            <a:endParaRPr lang="en-US" sz="1100" dirty="0"/>
          </a:p>
        </p:txBody>
      </p:sp>
      <p:sp>
        <p:nvSpPr>
          <p:cNvPr id="31" name="Shape 29"/>
          <p:cNvSpPr/>
          <p:nvPr/>
        </p:nvSpPr>
        <p:spPr>
          <a:xfrm>
            <a:off x="411480" y="4187952"/>
            <a:ext cx="8321040" cy="502920"/>
          </a:xfrm>
          <a:prstGeom prst="rect">
            <a:avLst/>
          </a:prstGeom>
          <a:solidFill>
            <a:srgbClr val="F2E6D0"/>
          </a:solidFill>
          <a:ln/>
        </p:spPr>
      </p:sp>
      <p:sp>
        <p:nvSpPr>
          <p:cNvPr id="32" name="Shape 30"/>
          <p:cNvSpPr/>
          <p:nvPr/>
        </p:nvSpPr>
        <p:spPr>
          <a:xfrm>
            <a:off x="411480" y="4187952"/>
            <a:ext cx="82296" cy="502920"/>
          </a:xfrm>
          <a:prstGeom prst="rect">
            <a:avLst/>
          </a:prstGeom>
          <a:solidFill>
            <a:srgbClr val="A07848"/>
          </a:solidFill>
          <a:ln/>
        </p:spPr>
      </p:sp>
      <p:sp>
        <p:nvSpPr>
          <p:cNvPr id="33" name="Text 31"/>
          <p:cNvSpPr txBox="1"/>
          <p:nvPr/>
        </p:nvSpPr>
        <p:spPr>
          <a:xfrm>
            <a:off x="621792" y="4233672"/>
            <a:ext cx="8001000" cy="411480"/>
          </a:xfrm>
          <a:prstGeom prst="rect">
            <a:avLst/>
          </a:prstGeom>
          <a:noFill/>
          <a:ln/>
        </p:spPr>
        <p:txBody>
          <a:bodyPr wrap="square" lIns="0" tIns="0" rIns="0" bIns="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State-owned institute under the Ministry of Youth Affairs and Skills Development. Regional campuses: Colombo (1968), Kurunegala (1986), Kandy (1996), Galle (2010), Matara; two innovation centres with Limkokwing University.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Thirty years of delivering external awards</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 - WHO NIBM IS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3</a:t>
            </a:r>
            <a:endParaRPr lang="en-US" sz="1100" dirty="0"/>
          </a:p>
        </p:txBody>
      </p:sp>
      <p:sp>
        <p:nvSpPr>
          <p:cNvPr id="8" name="Text 6"/>
          <p:cNvSpPr txBox="1"/>
          <p:nvPr/>
        </p:nvSpPr>
        <p:spPr>
          <a:xfrm>
            <a:off x="411480" y="1353312"/>
            <a:ext cx="8321040" cy="384048"/>
          </a:xfrm>
          <a:prstGeom prst="rect">
            <a:avLst/>
          </a:prstGeom>
          <a:noFill/>
          <a:ln/>
        </p:spPr>
        <p:txBody>
          <a:bodyPr wrap="square" lIns="0" tIns="0" rIns="0" bIns="0" rtlCol="0" anchor="t"/>
          <a:lstStyle/>
          <a:p>
            <a:pPr indent="0" marL="0">
              <a:buNone/>
            </a:pPr>
            <a:r>
              <a:rPr lang="en-US" sz="1300" i="1" dirty="0">
                <a:solidFill>
                  <a:srgbClr val="595959"/>
                </a:solidFill>
                <a:latin typeface="Open Sans" pitchFamily="34" charset="0"/>
                <a:ea typeface="Open Sans" pitchFamily="34" charset="-122"/>
                <a:cs typeface="Open Sans" pitchFamily="34" charset="-120"/>
              </a:rPr>
              <a:t>Every degree NIBM delivers today already runs under an external awarding body's quality oversight. A franchise is a familiar operating model, not a new one.</a:t>
            </a:r>
            <a:endParaRPr lang="en-US" sz="1300" dirty="0"/>
          </a:p>
        </p:txBody>
      </p:sp>
      <p:sp>
        <p:nvSpPr>
          <p:cNvPr id="9" name="Shape 7"/>
          <p:cNvSpPr/>
          <p:nvPr/>
        </p:nvSpPr>
        <p:spPr>
          <a:xfrm>
            <a:off x="411480" y="1810512"/>
            <a:ext cx="4133088" cy="384048"/>
          </a:xfrm>
          <a:prstGeom prst="rect">
            <a:avLst/>
          </a:prstGeom>
          <a:solidFill>
            <a:srgbClr val="7A5230"/>
          </a:solidFill>
          <a:ln/>
        </p:spPr>
      </p:sp>
      <p:sp>
        <p:nvSpPr>
          <p:cNvPr id="10" name="Text 8"/>
          <p:cNvSpPr txBox="1"/>
          <p:nvPr/>
        </p:nvSpPr>
        <p:spPr>
          <a:xfrm>
            <a:off x="548640" y="1810512"/>
            <a:ext cx="3858768" cy="384048"/>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Academic awards and pathways</a:t>
            </a:r>
            <a:endParaRPr lang="en-US" sz="1500" dirty="0"/>
          </a:p>
        </p:txBody>
      </p:sp>
      <p:sp>
        <p:nvSpPr>
          <p:cNvPr id="11" name="Shape 9"/>
          <p:cNvSpPr/>
          <p:nvPr/>
        </p:nvSpPr>
        <p:spPr>
          <a:xfrm>
            <a:off x="411480" y="2194560"/>
            <a:ext cx="4133088" cy="2468880"/>
          </a:xfrm>
          <a:prstGeom prst="rect">
            <a:avLst/>
          </a:prstGeom>
          <a:solidFill>
            <a:srgbClr val="FFFFFF"/>
          </a:solidFill>
          <a:ln w="9525">
            <a:solidFill>
              <a:srgbClr val="CCCCCC"/>
            </a:solidFill>
            <a:prstDash val="solid"/>
          </a:ln>
        </p:spPr>
      </p:sp>
      <p:sp>
        <p:nvSpPr>
          <p:cNvPr id="12" name="Text 10"/>
          <p:cNvSpPr txBox="1"/>
          <p:nvPr/>
        </p:nvSpPr>
        <p:spPr>
          <a:xfrm>
            <a:off x="548640" y="2286000"/>
            <a:ext cx="3858768" cy="219456"/>
          </a:xfrm>
          <a:prstGeom prst="rect">
            <a:avLst/>
          </a:prstGeom>
          <a:noFill/>
          <a:ln/>
        </p:spPr>
        <p:txBody>
          <a:bodyPr wrap="square" lIns="0" tIns="0" rIns="0" bIns="0" rtlCol="0" anchor="t"/>
          <a:lstStyle/>
          <a:p>
            <a:pPr indent="0" marL="0">
              <a:buNone/>
            </a:pPr>
            <a:r>
              <a:rPr lang="en-US" sz="1200" b="1" dirty="0">
                <a:solidFill>
                  <a:srgbClr val="7A5230"/>
                </a:solidFill>
                <a:latin typeface="Open Sans" pitchFamily="34" charset="0"/>
                <a:ea typeface="Open Sans" pitchFamily="34" charset="-122"/>
                <a:cs typeface="Open Sans" pitchFamily="34" charset="-120"/>
              </a:rPr>
              <a:t>Coventry University (UK)</a:t>
            </a:r>
            <a:endParaRPr lang="en-US" sz="1200" dirty="0"/>
          </a:p>
        </p:txBody>
      </p:sp>
      <p:sp>
        <p:nvSpPr>
          <p:cNvPr id="13" name="Text 11"/>
          <p:cNvSpPr txBox="1"/>
          <p:nvPr/>
        </p:nvSpPr>
        <p:spPr>
          <a:xfrm>
            <a:off x="548640" y="2505456"/>
            <a:ext cx="3858768" cy="365760"/>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Undergraduate degrees at NIBM since 2017, including BSc (Hons) Ethical Hacking and Network Security</a:t>
            </a:r>
            <a:endParaRPr lang="en-US" sz="1100" dirty="0"/>
          </a:p>
        </p:txBody>
      </p:sp>
      <p:sp>
        <p:nvSpPr>
          <p:cNvPr id="14" name="Text 12"/>
          <p:cNvSpPr txBox="1"/>
          <p:nvPr/>
        </p:nvSpPr>
        <p:spPr>
          <a:xfrm>
            <a:off x="548640" y="2880360"/>
            <a:ext cx="3858768" cy="219456"/>
          </a:xfrm>
          <a:prstGeom prst="rect">
            <a:avLst/>
          </a:prstGeom>
          <a:noFill/>
          <a:ln/>
        </p:spPr>
        <p:txBody>
          <a:bodyPr wrap="square" lIns="0" tIns="0" rIns="0" bIns="0" rtlCol="0" anchor="t"/>
          <a:lstStyle/>
          <a:p>
            <a:pPr indent="0" marL="0">
              <a:buNone/>
            </a:pPr>
            <a:r>
              <a:rPr lang="en-US" sz="1200" b="1" dirty="0">
                <a:solidFill>
                  <a:srgbClr val="7A5230"/>
                </a:solidFill>
                <a:latin typeface="Open Sans" pitchFamily="34" charset="0"/>
                <a:ea typeface="Open Sans" pitchFamily="34" charset="-122"/>
                <a:cs typeface="Open Sans" pitchFamily="34" charset="-120"/>
              </a:rPr>
              <a:t>University College Dublin (Ireland)</a:t>
            </a:r>
            <a:endParaRPr lang="en-US" sz="1200" dirty="0"/>
          </a:p>
        </p:txBody>
      </p:sp>
      <p:sp>
        <p:nvSpPr>
          <p:cNvPr id="15" name="Text 13"/>
          <p:cNvSpPr txBox="1"/>
          <p:nvPr/>
        </p:nvSpPr>
        <p:spPr>
          <a:xfrm>
            <a:off x="548640" y="3099816"/>
            <a:ext cx="3858768" cy="365760"/>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First foreign award at NIBM: BSc Management Information Systems, 1996</a:t>
            </a:r>
            <a:endParaRPr lang="en-US" sz="1100" dirty="0"/>
          </a:p>
        </p:txBody>
      </p:sp>
      <p:sp>
        <p:nvSpPr>
          <p:cNvPr id="16" name="Text 14"/>
          <p:cNvSpPr txBox="1"/>
          <p:nvPr/>
        </p:nvSpPr>
        <p:spPr>
          <a:xfrm>
            <a:off x="548640" y="3474720"/>
            <a:ext cx="3858768" cy="219456"/>
          </a:xfrm>
          <a:prstGeom prst="rect">
            <a:avLst/>
          </a:prstGeom>
          <a:noFill/>
          <a:ln/>
        </p:spPr>
        <p:txBody>
          <a:bodyPr wrap="square" lIns="0" tIns="0" rIns="0" bIns="0" rtlCol="0" anchor="t"/>
          <a:lstStyle/>
          <a:p>
            <a:pPr indent="0" marL="0">
              <a:buNone/>
            </a:pPr>
            <a:r>
              <a:rPr lang="en-US" sz="1200" b="1" dirty="0">
                <a:solidFill>
                  <a:srgbClr val="7A5230"/>
                </a:solidFill>
                <a:latin typeface="Open Sans" pitchFamily="34" charset="0"/>
                <a:ea typeface="Open Sans" pitchFamily="34" charset="-122"/>
                <a:cs typeface="Open Sans" pitchFamily="34" charset="-120"/>
              </a:rPr>
              <a:t>Griffith University (Australia)</a:t>
            </a:r>
            <a:endParaRPr lang="en-US" sz="1200" dirty="0"/>
          </a:p>
        </p:txBody>
      </p:sp>
      <p:sp>
        <p:nvSpPr>
          <p:cNvPr id="17" name="Text 15"/>
          <p:cNvSpPr txBox="1"/>
          <p:nvPr/>
        </p:nvSpPr>
        <p:spPr>
          <a:xfrm>
            <a:off x="548640" y="3694176"/>
            <a:ext cx="3858768" cy="365760"/>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Transfer pathway for NIBM students</a:t>
            </a:r>
            <a:endParaRPr lang="en-US" sz="1100" dirty="0"/>
          </a:p>
        </p:txBody>
      </p:sp>
      <p:sp>
        <p:nvSpPr>
          <p:cNvPr id="18" name="Text 16"/>
          <p:cNvSpPr txBox="1"/>
          <p:nvPr/>
        </p:nvSpPr>
        <p:spPr>
          <a:xfrm>
            <a:off x="548640" y="4069080"/>
            <a:ext cx="3858768" cy="219456"/>
          </a:xfrm>
          <a:prstGeom prst="rect">
            <a:avLst/>
          </a:prstGeom>
          <a:noFill/>
          <a:ln/>
        </p:spPr>
        <p:txBody>
          <a:bodyPr wrap="square" lIns="0" tIns="0" rIns="0" bIns="0" rtlCol="0" anchor="t"/>
          <a:lstStyle/>
          <a:p>
            <a:pPr indent="0" marL="0">
              <a:buNone/>
            </a:pPr>
            <a:r>
              <a:rPr lang="en-US" sz="1200" b="1" dirty="0">
                <a:solidFill>
                  <a:srgbClr val="7A5230"/>
                </a:solidFill>
                <a:latin typeface="Open Sans" pitchFamily="34" charset="0"/>
                <a:ea typeface="Open Sans" pitchFamily="34" charset="-122"/>
                <a:cs typeface="Open Sans" pitchFamily="34" charset="-120"/>
              </a:rPr>
              <a:t>Ural Federal; Limkokwing University</a:t>
            </a:r>
            <a:endParaRPr lang="en-US" sz="1200" dirty="0"/>
          </a:p>
        </p:txBody>
      </p:sp>
      <p:sp>
        <p:nvSpPr>
          <p:cNvPr id="19" name="Text 17"/>
          <p:cNvSpPr txBox="1"/>
          <p:nvPr/>
        </p:nvSpPr>
        <p:spPr>
          <a:xfrm>
            <a:off x="548640" y="4288536"/>
            <a:ext cx="3858768" cy="365760"/>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Engineering links; two creative-technology innovation centres</a:t>
            </a:r>
            <a:endParaRPr lang="en-US" sz="1100" dirty="0"/>
          </a:p>
        </p:txBody>
      </p:sp>
      <p:sp>
        <p:nvSpPr>
          <p:cNvPr id="20" name="Shape 18"/>
          <p:cNvSpPr/>
          <p:nvPr/>
        </p:nvSpPr>
        <p:spPr>
          <a:xfrm>
            <a:off x="4645152" y="1810512"/>
            <a:ext cx="4133088" cy="384048"/>
          </a:xfrm>
          <a:prstGeom prst="rect">
            <a:avLst/>
          </a:prstGeom>
          <a:solidFill>
            <a:srgbClr val="EB5600"/>
          </a:solidFill>
          <a:ln/>
        </p:spPr>
      </p:sp>
      <p:sp>
        <p:nvSpPr>
          <p:cNvPr id="21" name="Text 19"/>
          <p:cNvSpPr txBox="1"/>
          <p:nvPr/>
        </p:nvSpPr>
        <p:spPr>
          <a:xfrm>
            <a:off x="4782312" y="1810512"/>
            <a:ext cx="3858768" cy="384048"/>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Industry academies and centres</a:t>
            </a:r>
            <a:endParaRPr lang="en-US" sz="1500" dirty="0"/>
          </a:p>
        </p:txBody>
      </p:sp>
      <p:sp>
        <p:nvSpPr>
          <p:cNvPr id="22" name="Shape 20"/>
          <p:cNvSpPr/>
          <p:nvPr/>
        </p:nvSpPr>
        <p:spPr>
          <a:xfrm>
            <a:off x="4645152" y="2194560"/>
            <a:ext cx="4133088" cy="2468880"/>
          </a:xfrm>
          <a:prstGeom prst="rect">
            <a:avLst/>
          </a:prstGeom>
          <a:solidFill>
            <a:srgbClr val="FFFFFF"/>
          </a:solidFill>
          <a:ln w="9525">
            <a:solidFill>
              <a:srgbClr val="CCCCCC"/>
            </a:solidFill>
            <a:prstDash val="solid"/>
          </a:ln>
        </p:spPr>
      </p:sp>
      <p:sp>
        <p:nvSpPr>
          <p:cNvPr id="23" name="Text 21"/>
          <p:cNvSpPr txBox="1"/>
          <p:nvPr/>
        </p:nvSpPr>
        <p:spPr>
          <a:xfrm>
            <a:off x="4782312" y="2286000"/>
            <a:ext cx="3858768" cy="219456"/>
          </a:xfrm>
          <a:prstGeom prst="rect">
            <a:avLst/>
          </a:prstGeom>
          <a:noFill/>
          <a:ln/>
        </p:spPr>
        <p:txBody>
          <a:bodyPr wrap="square" lIns="0" tIns="0" rIns="0" bIns="0" rtlCol="0" anchor="t"/>
          <a:lstStyle/>
          <a:p>
            <a:pPr indent="0" marL="0">
              <a:buNone/>
            </a:pPr>
            <a:r>
              <a:rPr lang="en-US" sz="1200" b="1" dirty="0">
                <a:solidFill>
                  <a:srgbClr val="EB5600"/>
                </a:solidFill>
                <a:latin typeface="Open Sans" pitchFamily="34" charset="0"/>
                <a:ea typeface="Open Sans" pitchFamily="34" charset="-122"/>
                <a:cs typeface="Open Sans" pitchFamily="34" charset="-120"/>
              </a:rPr>
              <a:t>Cisco and Red Hat academies</a:t>
            </a:r>
            <a:endParaRPr lang="en-US" sz="1200" dirty="0"/>
          </a:p>
        </p:txBody>
      </p:sp>
      <p:sp>
        <p:nvSpPr>
          <p:cNvPr id="24" name="Text 22"/>
          <p:cNvSpPr txBox="1"/>
          <p:nvPr/>
        </p:nvSpPr>
        <p:spPr>
          <a:xfrm>
            <a:off x="4782312" y="2505456"/>
            <a:ext cx="3858768" cy="365760"/>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Network and systems curricula delivered to vendor standard</a:t>
            </a:r>
            <a:endParaRPr lang="en-US" sz="1100" dirty="0"/>
          </a:p>
        </p:txBody>
      </p:sp>
      <p:sp>
        <p:nvSpPr>
          <p:cNvPr id="25" name="Text 23"/>
          <p:cNvSpPr txBox="1"/>
          <p:nvPr/>
        </p:nvSpPr>
        <p:spPr>
          <a:xfrm>
            <a:off x="4782312" y="2880360"/>
            <a:ext cx="3858768" cy="219456"/>
          </a:xfrm>
          <a:prstGeom prst="rect">
            <a:avLst/>
          </a:prstGeom>
          <a:noFill/>
          <a:ln/>
        </p:spPr>
        <p:txBody>
          <a:bodyPr wrap="square" lIns="0" tIns="0" rIns="0" bIns="0" rtlCol="0" anchor="t"/>
          <a:lstStyle/>
          <a:p>
            <a:pPr indent="0" marL="0">
              <a:buNone/>
            </a:pPr>
            <a:r>
              <a:rPr lang="en-US" sz="1200" b="1" dirty="0">
                <a:solidFill>
                  <a:srgbClr val="EB5600"/>
                </a:solidFill>
                <a:latin typeface="Open Sans" pitchFamily="34" charset="0"/>
                <a:ea typeface="Open Sans" pitchFamily="34" charset="-122"/>
                <a:cs typeface="Open Sans" pitchFamily="34" charset="-120"/>
              </a:rPr>
              <a:t>AWS Academy; EC-Council partnership</a:t>
            </a:r>
            <a:endParaRPr lang="en-US" sz="1200" dirty="0"/>
          </a:p>
        </p:txBody>
      </p:sp>
      <p:sp>
        <p:nvSpPr>
          <p:cNvPr id="26" name="Text 24"/>
          <p:cNvSpPr txBox="1"/>
          <p:nvPr/>
        </p:nvSpPr>
        <p:spPr>
          <a:xfrm>
            <a:off x="4782312" y="3099816"/>
            <a:ext cx="3858768" cy="365760"/>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Cloud and security curricula, the base for cloud-hosted lab ranges</a:t>
            </a:r>
            <a:endParaRPr lang="en-US" sz="1100" dirty="0"/>
          </a:p>
        </p:txBody>
      </p:sp>
      <p:sp>
        <p:nvSpPr>
          <p:cNvPr id="27" name="Text 25"/>
          <p:cNvSpPr txBox="1"/>
          <p:nvPr/>
        </p:nvSpPr>
        <p:spPr>
          <a:xfrm>
            <a:off x="4782312" y="3474720"/>
            <a:ext cx="3858768" cy="219456"/>
          </a:xfrm>
          <a:prstGeom prst="rect">
            <a:avLst/>
          </a:prstGeom>
          <a:noFill/>
          <a:ln/>
        </p:spPr>
        <p:txBody>
          <a:bodyPr wrap="square" lIns="0" tIns="0" rIns="0" bIns="0" rtlCol="0" anchor="t"/>
          <a:lstStyle/>
          <a:p>
            <a:pPr indent="0" marL="0">
              <a:buNone/>
            </a:pPr>
            <a:r>
              <a:rPr lang="en-US" sz="1200" b="1" dirty="0">
                <a:solidFill>
                  <a:srgbClr val="EB5600"/>
                </a:solidFill>
                <a:latin typeface="Open Sans" pitchFamily="34" charset="0"/>
                <a:ea typeface="Open Sans" pitchFamily="34" charset="-122"/>
                <a:cs typeface="Open Sans" pitchFamily="34" charset="-120"/>
              </a:rPr>
              <a:t>Microsoft; Oracle</a:t>
            </a:r>
            <a:endParaRPr lang="en-US" sz="1200" dirty="0"/>
          </a:p>
        </p:txBody>
      </p:sp>
      <p:sp>
        <p:nvSpPr>
          <p:cNvPr id="28" name="Text 26"/>
          <p:cNvSpPr txBox="1"/>
          <p:nvPr/>
        </p:nvSpPr>
        <p:spPr>
          <a:xfrm>
            <a:off x="4782312" y="3694176"/>
            <a:ext cx="3858768" cy="365760"/>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Platform partnerships supporting software and data teaching</a:t>
            </a:r>
            <a:endParaRPr lang="en-US" sz="1100" dirty="0"/>
          </a:p>
        </p:txBody>
      </p:sp>
      <p:sp>
        <p:nvSpPr>
          <p:cNvPr id="29" name="Text 27"/>
          <p:cNvSpPr txBox="1"/>
          <p:nvPr/>
        </p:nvSpPr>
        <p:spPr>
          <a:xfrm>
            <a:off x="4782312" y="4069080"/>
            <a:ext cx="3858768" cy="219456"/>
          </a:xfrm>
          <a:prstGeom prst="rect">
            <a:avLst/>
          </a:prstGeom>
          <a:noFill/>
          <a:ln/>
        </p:spPr>
        <p:txBody>
          <a:bodyPr wrap="square" lIns="0" tIns="0" rIns="0" bIns="0" rtlCol="0" anchor="t"/>
          <a:lstStyle/>
          <a:p>
            <a:pPr indent="0" marL="0">
              <a:buNone/>
            </a:pPr>
            <a:r>
              <a:rPr lang="en-US" sz="1200" b="1" dirty="0">
                <a:solidFill>
                  <a:srgbClr val="EB5600"/>
                </a:solidFill>
                <a:latin typeface="Open Sans" pitchFamily="34" charset="0"/>
                <a:ea typeface="Open Sans" pitchFamily="34" charset="-122"/>
                <a:cs typeface="Open Sans" pitchFamily="34" charset="-120"/>
              </a:rPr>
              <a:t>BCS accredited training provider</a:t>
            </a:r>
            <a:endParaRPr lang="en-US" sz="1200" dirty="0"/>
          </a:p>
        </p:txBody>
      </p:sp>
      <p:sp>
        <p:nvSpPr>
          <p:cNvPr id="30" name="Text 28"/>
          <p:cNvSpPr txBox="1"/>
          <p:nvPr/>
        </p:nvSpPr>
        <p:spPr>
          <a:xfrm>
            <a:off x="4782312" y="4288536"/>
            <a:ext cx="3858768" cy="365760"/>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Accredited provider for BCS Agile and Business Analysis certifications in Sri Lanka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Why Essex: top of the Colombo field</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 - WHO NIBM IS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4</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353312"/>
          <a:ext cx="5303520" cy="914400"/>
        </p:xfrm>
        <a:graphic>
          <a:graphicData uri="http://schemas.openxmlformats.org/drawingml/2006/table">
            <a:tbl>
              <a:tblPr/>
              <a:tblGrid>
                <a:gridCol w="1417320"/>
                <a:gridCol w="1005840"/>
                <a:gridCol w="548640"/>
                <a:gridCol w="868680"/>
                <a:gridCol w="1463040"/>
              </a:tblGrid>
              <a:tr h="292608">
                <a:tc>
                  <a:txBody>
                    <a:bodyPr/>
                    <a:lstStyle/>
                    <a:p>
                      <a:pPr algn="ctr" indent="0" marL="0">
                        <a:buNone/>
                      </a:pPr>
                      <a:r>
                        <a:rPr lang="en-US" sz="1100" b="1" dirty="0">
                          <a:solidFill>
                            <a:srgbClr val="FFFFFF"/>
                          </a:solidFill>
                          <a:latin typeface="Open Sans" pitchFamily="34" charset="0"/>
                          <a:ea typeface="Open Sans" pitchFamily="34" charset="-122"/>
                          <a:cs typeface="Open Sans" pitchFamily="34" charset="-120"/>
                        </a:rPr>
                        <a:t>Awarding university</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algn="ctr" indent="0" marL="0">
                        <a:buNone/>
                      </a:pPr>
                      <a:r>
                        <a:rPr lang="en-US" sz="1100" b="1" dirty="0">
                          <a:solidFill>
                            <a:srgbClr val="FFFFFF"/>
                          </a:solidFill>
                          <a:latin typeface="Open Sans" pitchFamily="34" charset="0"/>
                          <a:ea typeface="Open Sans" pitchFamily="34" charset="-122"/>
                          <a:cs typeface="Open Sans" pitchFamily="34" charset="-120"/>
                        </a:rPr>
                        <a:t>Via</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algn="ctr" indent="0" marL="0">
                        <a:buNone/>
                      </a:pPr>
                      <a:r>
                        <a:rPr lang="en-US" sz="1100" b="1" dirty="0">
                          <a:solidFill>
                            <a:srgbClr val="FFFFFF"/>
                          </a:solidFill>
                          <a:latin typeface="Open Sans" pitchFamily="34" charset="0"/>
                          <a:ea typeface="Open Sans" pitchFamily="34" charset="-122"/>
                          <a:cs typeface="Open Sans" pitchFamily="34" charset="-120"/>
                        </a:rPr>
                        <a:t>CUG</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algn="ctr" indent="0" marL="0">
                        <a:buNone/>
                      </a:pPr>
                      <a:r>
                        <a:rPr lang="en-US" sz="1100" b="1" dirty="0">
                          <a:solidFill>
                            <a:srgbClr val="FFFFFF"/>
                          </a:solidFill>
                          <a:latin typeface="Open Sans" pitchFamily="34" charset="0"/>
                          <a:ea typeface="Open Sans" pitchFamily="34" charset="-122"/>
                          <a:cs typeface="Open Sans" pitchFamily="34" charset="-120"/>
                        </a:rPr>
                        <a:t>Guardian</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algn="ctr" indent="0" marL="0">
                        <a:buNone/>
                      </a:pPr>
                      <a:r>
                        <a:rPr lang="en-US" sz="1100" b="1" dirty="0">
                          <a:solidFill>
                            <a:srgbClr val="FFFFFF"/>
                          </a:solidFill>
                          <a:latin typeface="Open Sans" pitchFamily="34" charset="0"/>
                          <a:ea typeface="Open Sans" pitchFamily="34" charset="-122"/>
                          <a:cs typeface="Open Sans" pitchFamily="34" charset="-120"/>
                        </a:rPr>
                        <a:t>NCSC status, UK programme</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r>
              <a:tr h="365760">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University of Essex</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NIBM (proposed)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7A5230"/>
                          </a:solidFill>
                          <a:latin typeface="Open Sans" pitchFamily="34" charset="0"/>
                          <a:ea typeface="Open Sans" pitchFamily="34" charset="-122"/>
                          <a:cs typeface="Open Sans" pitchFamily="34" charset="-120"/>
                        </a:rPr>
                        <a:t>29</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7A5230"/>
                          </a:solidFill>
                          <a:latin typeface="Open Sans" pitchFamily="34" charset="0"/>
                          <a:ea typeface="Open Sans" pitchFamily="34" charset="-122"/>
                          <a:cs typeface="Open Sans" pitchFamily="34" charset="-120"/>
                        </a:rPr>
                        <a:t>12</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7A5230"/>
                          </a:solidFill>
                          <a:latin typeface="Open Sans" pitchFamily="34" charset="0"/>
                          <a:ea typeface="Open Sans" pitchFamily="34" charset="-122"/>
                          <a:cs typeface="Open Sans" pitchFamily="34" charset="-120"/>
                        </a:rPr>
                        <a:t>Provisional, to Sep 2027</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Lancashire (formerly UCLan)</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UCL Sri Lanka</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86</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98</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Not listed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Kingston</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ESOFT</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89</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55</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Full, expires 30 Sep 2026</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Staffordshire</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APIIT</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94</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82</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Not listed</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Westminster</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IIT</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123</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Open Sans" pitchFamily="34" charset="0"/>
                          <a:ea typeface="Open Sans" pitchFamily="34" charset="-122"/>
                          <a:cs typeface="Open Sans" pitchFamily="34" charset="-120"/>
                        </a:rPr>
                        <a:t>122</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B5600"/>
                          </a:solidFill>
                          <a:latin typeface="Open Sans" pitchFamily="34" charset="0"/>
                          <a:ea typeface="Open Sans" pitchFamily="34" charset="-122"/>
                          <a:cs typeface="Open Sans" pitchFamily="34" charset="-120"/>
                        </a:rPr>
                        <a:t>Full, to Sep 2028</a:t>
                      </a:r>
                      <a:endParaRPr lang="en-US" sz="1100" dirty="0">
                        <a:latin typeface="Open Sans" charset="0"/>
                        <a:ea typeface="Open Sans" charset="0"/>
                        <a:cs typeface="Open Sans" charset="0"/>
                      </a:endParaRPr>
                    </a:p>
                  </a:txBody>
                  <a:tcPr marL="36576" marR="36576" marT="36576" marB="36576"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457200" y="3639312"/>
            <a:ext cx="5212080" cy="548640"/>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UK awards delivered via Sri Lankan partners; 2026 league tables; NCSC status of the UK-delivered programme (May 2026 list). Franchise scope: for Essex to confirm.</a:t>
            </a:r>
            <a:endParaRPr lang="en-US" sz="1100" dirty="0"/>
          </a:p>
        </p:txBody>
      </p:sp>
      <p:sp>
        <p:nvSpPr>
          <p:cNvPr id="10" name="Shape 7"/>
          <p:cNvSpPr/>
          <p:nvPr/>
        </p:nvSpPr>
        <p:spPr>
          <a:xfrm>
            <a:off x="5897880" y="1353312"/>
            <a:ext cx="2834640" cy="1097280"/>
          </a:xfrm>
          <a:prstGeom prst="rect">
            <a:avLst/>
          </a:prstGeom>
          <a:solidFill>
            <a:srgbClr val="7A5230"/>
          </a:solidFill>
          <a:ln/>
        </p:spPr>
      </p:sp>
      <p:sp>
        <p:nvSpPr>
          <p:cNvPr id="11" name="Text 8"/>
          <p:cNvSpPr txBox="1"/>
          <p:nvPr/>
        </p:nvSpPr>
        <p:spPr>
          <a:xfrm>
            <a:off x="6035040" y="1426464"/>
            <a:ext cx="2560320" cy="548640"/>
          </a:xfrm>
          <a:prstGeom prst="rect">
            <a:avLst/>
          </a:prstGeom>
          <a:noFill/>
          <a:ln/>
        </p:spPr>
        <p:txBody>
          <a:bodyPr wrap="square" lIns="0" tIns="0" rIns="0" bIns="0" rtlCol="0" anchor="ctr"/>
          <a:lstStyle/>
          <a:p>
            <a:pPr algn="ctr" indent="0" marL="0">
              <a:buNone/>
            </a:pPr>
            <a:r>
              <a:rPr lang="en-US" sz="3600" b="1" dirty="0">
                <a:solidFill>
                  <a:srgbClr val="FFFFFF"/>
                </a:solidFill>
                <a:latin typeface="Open Sans" pitchFamily="34" charset="0"/>
                <a:ea typeface="Open Sans" pitchFamily="34" charset="-122"/>
                <a:cs typeface="Open Sans" pitchFamily="34" charset="-120"/>
              </a:rPr>
              <a:t>6th</a:t>
            </a:r>
            <a:endParaRPr lang="en-US" sz="3600" dirty="0"/>
          </a:p>
        </p:txBody>
      </p:sp>
      <p:sp>
        <p:nvSpPr>
          <p:cNvPr id="12" name="Text 9"/>
          <p:cNvSpPr txBox="1"/>
          <p:nvPr/>
        </p:nvSpPr>
        <p:spPr>
          <a:xfrm>
            <a:off x="6035040" y="1993392"/>
            <a:ext cx="2560320" cy="411480"/>
          </a:xfrm>
          <a:prstGeom prst="rect">
            <a:avLst/>
          </a:prstGeom>
          <a:noFill/>
          <a:ln/>
        </p:spPr>
        <p:txBody>
          <a:bodyPr wrap="square" lIns="0" tIns="0" rIns="0" bIns="0" rtlCol="0" anchor="t"/>
          <a:lstStyle/>
          <a:p>
            <a:pPr algn="ctr" indent="0" marL="0">
              <a:buNone/>
            </a:pPr>
            <a:r>
              <a:rPr lang="en-US" sz="1100" b="1" dirty="0">
                <a:solidFill>
                  <a:srgbClr val="FFFFFF"/>
                </a:solidFill>
                <a:latin typeface="Open Sans" pitchFamily="34" charset="0"/>
                <a:ea typeface="Open Sans" pitchFamily="34" charset="-122"/>
                <a:cs typeface="Open Sans" pitchFamily="34" charset="-120"/>
              </a:rPr>
              <a:t>UK research power in computer science (THE, REF 2021)</a:t>
            </a:r>
            <a:endParaRPr lang="en-US" sz="1100" dirty="0"/>
          </a:p>
        </p:txBody>
      </p:sp>
      <p:sp>
        <p:nvSpPr>
          <p:cNvPr id="13" name="Shape 10"/>
          <p:cNvSpPr/>
          <p:nvPr/>
        </p:nvSpPr>
        <p:spPr>
          <a:xfrm>
            <a:off x="5897880" y="2560320"/>
            <a:ext cx="2834640" cy="1097280"/>
          </a:xfrm>
          <a:prstGeom prst="rect">
            <a:avLst/>
          </a:prstGeom>
          <a:solidFill>
            <a:srgbClr val="EB5600"/>
          </a:solidFill>
          <a:ln/>
        </p:spPr>
      </p:sp>
      <p:sp>
        <p:nvSpPr>
          <p:cNvPr id="14" name="Text 11"/>
          <p:cNvSpPr txBox="1"/>
          <p:nvPr/>
        </p:nvSpPr>
        <p:spPr>
          <a:xfrm>
            <a:off x="6035040" y="2633472"/>
            <a:ext cx="2560320" cy="548640"/>
          </a:xfrm>
          <a:prstGeom prst="rect">
            <a:avLst/>
          </a:prstGeom>
          <a:noFill/>
          <a:ln/>
        </p:spPr>
        <p:txBody>
          <a:bodyPr wrap="square" lIns="0" tIns="0" rIns="0" bIns="0" rtlCol="0" anchor="ctr"/>
          <a:lstStyle/>
          <a:p>
            <a:pPr algn="ctr" indent="0" marL="0">
              <a:buNone/>
            </a:pPr>
            <a:r>
              <a:rPr lang="en-US" sz="3600" b="1" dirty="0">
                <a:solidFill>
                  <a:srgbClr val="FFFFFF"/>
                </a:solidFill>
                <a:latin typeface="Open Sans" pitchFamily="34" charset="0"/>
                <a:ea typeface="Open Sans" pitchFamily="34" charset="-122"/>
                <a:cs typeface="Open Sans" pitchFamily="34" charset="-120"/>
              </a:rPr>
              <a:t>120</a:t>
            </a:r>
            <a:endParaRPr lang="en-US" sz="3600" dirty="0"/>
          </a:p>
        </p:txBody>
      </p:sp>
      <p:sp>
        <p:nvSpPr>
          <p:cNvPr id="15" name="Text 12"/>
          <p:cNvSpPr txBox="1"/>
          <p:nvPr/>
        </p:nvSpPr>
        <p:spPr>
          <a:xfrm>
            <a:off x="6035040" y="3200400"/>
            <a:ext cx="2560320" cy="411480"/>
          </a:xfrm>
          <a:prstGeom prst="rect">
            <a:avLst/>
          </a:prstGeom>
          <a:noFill/>
          <a:ln/>
        </p:spPr>
        <p:txBody>
          <a:bodyPr wrap="square" lIns="0" tIns="0" rIns="0" bIns="0" rtlCol="0" anchor="t"/>
          <a:lstStyle/>
          <a:p>
            <a:pPr algn="ctr" indent="0" marL="0">
              <a:buNone/>
            </a:pPr>
            <a:r>
              <a:rPr lang="en-US" sz="1100" b="1" dirty="0">
                <a:solidFill>
                  <a:srgbClr val="FFFFFF"/>
                </a:solidFill>
                <a:latin typeface="Open Sans" pitchFamily="34" charset="0"/>
                <a:ea typeface="Open Sans" pitchFamily="34" charset="-122"/>
                <a:cs typeface="Open Sans" pitchFamily="34" charset="-120"/>
              </a:rPr>
              <a:t>credit PgDip exit in Essex's own award portfolio</a:t>
            </a:r>
            <a:endParaRPr lang="en-US" sz="1100" dirty="0"/>
          </a:p>
        </p:txBody>
      </p:sp>
      <p:sp>
        <p:nvSpPr>
          <p:cNvPr id="16" name="Shape 13"/>
          <p:cNvSpPr/>
          <p:nvPr/>
        </p:nvSpPr>
        <p:spPr>
          <a:xfrm>
            <a:off x="411480" y="4224528"/>
            <a:ext cx="8321040" cy="438912"/>
          </a:xfrm>
          <a:prstGeom prst="rect">
            <a:avLst/>
          </a:prstGeom>
          <a:solidFill>
            <a:srgbClr val="1A1A1A"/>
          </a:solidFill>
          <a:ln/>
        </p:spPr>
      </p:sp>
      <p:sp>
        <p:nvSpPr>
          <p:cNvPr id="17" name="Text 14"/>
          <p:cNvSpPr txBox="1"/>
          <p:nvPr/>
        </p:nvSpPr>
        <p:spPr>
          <a:xfrm>
            <a:off x="566928" y="4224528"/>
            <a:ext cx="8046720" cy="438912"/>
          </a:xfrm>
          <a:prstGeom prst="rect">
            <a:avLst/>
          </a:prstGeom>
          <a:noFill/>
          <a:ln/>
        </p:spPr>
        <p:txBody>
          <a:bodyPr wrap="square" lIns="0" tIns="0" rIns="0" bIns="0" rtlCol="0" anchor="ctr"/>
          <a:lstStyle/>
          <a:p>
            <a:pPr indent="0" marL="0">
              <a:buNone/>
            </a:pPr>
            <a:r>
              <a:rPr lang="en-US" sz="1200" b="1" dirty="0">
                <a:solidFill>
                  <a:srgbClr val="FFFFFF"/>
                </a:solidFill>
                <a:latin typeface="Open Sans" pitchFamily="34" charset="0"/>
                <a:ea typeface="Open Sans" pitchFamily="34" charset="-122"/>
                <a:cs typeface="Open Sans" pitchFamily="34" charset="-120"/>
              </a:rPr>
              <a:t>Campus MSc profile: security by design, digital identity, digital forensics, network security. The natural continuation of NIBM's Ethical Hacking and Network Security stream.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One computing base, and no rung above Level 6</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II - WHAT THE MARKET SAYS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5</a:t>
            </a:r>
            <a:endParaRPr lang="en-US" sz="1100" dirty="0"/>
          </a:p>
        </p:txBody>
      </p:sp>
      <p:graphicFrame>
        <p:nvGraphicFramePr>
          <p:cNvPr id="8" name="Chart 0" descr=""/>
          <p:cNvGraphicFramePr/>
          <p:nvPr/>
        </p:nvGraphicFramePr>
        <p:xfrm>
          <a:off x="411480" y="1307592"/>
          <a:ext cx="4937760" cy="27432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02920" y="4078224"/>
            <a:ext cx="4846320" cy="548640"/>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Yearly totals 107 (2024), 124 (2025), 115 (2026). 346 graduates in the last six convocations, none with a postgraduate route at NIBM.</a:t>
            </a:r>
            <a:endParaRPr lang="en-US" sz="1100" dirty="0"/>
          </a:p>
        </p:txBody>
      </p:sp>
      <p:sp>
        <p:nvSpPr>
          <p:cNvPr id="10" name="Shape 7"/>
          <p:cNvSpPr/>
          <p:nvPr/>
        </p:nvSpPr>
        <p:spPr>
          <a:xfrm>
            <a:off x="5623560" y="1371600"/>
            <a:ext cx="3108960" cy="987552"/>
          </a:xfrm>
          <a:prstGeom prst="rect">
            <a:avLst/>
          </a:prstGeom>
          <a:solidFill>
            <a:srgbClr val="7A5230"/>
          </a:solidFill>
          <a:ln/>
        </p:spPr>
      </p:sp>
      <p:sp>
        <p:nvSpPr>
          <p:cNvPr id="11" name="Text 8"/>
          <p:cNvSpPr txBox="1"/>
          <p:nvPr/>
        </p:nvSpPr>
        <p:spPr>
          <a:xfrm>
            <a:off x="5733288" y="1426464"/>
            <a:ext cx="1234440" cy="877824"/>
          </a:xfrm>
          <a:prstGeom prst="rect">
            <a:avLst/>
          </a:prstGeom>
          <a:noFill/>
          <a:ln/>
        </p:spPr>
        <p:txBody>
          <a:bodyPr wrap="square" lIns="0" tIns="0" rIns="0" bIns="0" rtlCol="0" anchor="ctr"/>
          <a:lstStyle/>
          <a:p>
            <a:pPr indent="0" marL="0">
              <a:buNone/>
            </a:pPr>
            <a:r>
              <a:rPr lang="en-US" sz="2200" b="1" dirty="0">
                <a:solidFill>
                  <a:srgbClr val="FFFFFF"/>
                </a:solidFill>
                <a:latin typeface="Open Sans" pitchFamily="34" charset="0"/>
                <a:ea typeface="Open Sans" pitchFamily="34" charset="-122"/>
                <a:cs typeface="Open Sans" pitchFamily="34" charset="-120"/>
              </a:rPr>
              <a:t>~120</a:t>
            </a:r>
            <a:endParaRPr lang="en-US" sz="2200" dirty="0"/>
          </a:p>
        </p:txBody>
      </p:sp>
      <p:sp>
        <p:nvSpPr>
          <p:cNvPr id="12" name="Text 9"/>
          <p:cNvSpPr txBox="1"/>
          <p:nvPr/>
        </p:nvSpPr>
        <p:spPr>
          <a:xfrm>
            <a:off x="6995160" y="1444752"/>
            <a:ext cx="1627632" cy="841248"/>
          </a:xfrm>
          <a:prstGeom prst="rect">
            <a:avLst/>
          </a:prstGeom>
          <a:noFill/>
          <a:ln/>
        </p:spPr>
        <p:txBody>
          <a:bodyPr wrap="square" lIns="0" tIns="0" rIns="0" bIns="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computing graduates a year across three programmes</a:t>
            </a:r>
            <a:endParaRPr lang="en-US" sz="1100" dirty="0"/>
          </a:p>
        </p:txBody>
      </p:sp>
      <p:sp>
        <p:nvSpPr>
          <p:cNvPr id="13" name="Shape 10"/>
          <p:cNvSpPr/>
          <p:nvPr/>
        </p:nvSpPr>
        <p:spPr>
          <a:xfrm>
            <a:off x="5623560" y="2468880"/>
            <a:ext cx="3108960" cy="987552"/>
          </a:xfrm>
          <a:prstGeom prst="rect">
            <a:avLst/>
          </a:prstGeom>
          <a:solidFill>
            <a:srgbClr val="EB5600"/>
          </a:solidFill>
          <a:ln/>
        </p:spPr>
      </p:sp>
      <p:sp>
        <p:nvSpPr>
          <p:cNvPr id="14" name="Text 11"/>
          <p:cNvSpPr txBox="1"/>
          <p:nvPr/>
        </p:nvSpPr>
        <p:spPr>
          <a:xfrm>
            <a:off x="5733288" y="2523744"/>
            <a:ext cx="1234440" cy="877824"/>
          </a:xfrm>
          <a:prstGeom prst="rect">
            <a:avLst/>
          </a:prstGeom>
          <a:noFill/>
          <a:ln/>
        </p:spPr>
        <p:txBody>
          <a:bodyPr wrap="square" lIns="0" tIns="0" rIns="0" bIns="0" rtlCol="0" anchor="ctr"/>
          <a:lstStyle/>
          <a:p>
            <a:pPr indent="0" marL="0">
              <a:buNone/>
            </a:pPr>
            <a:r>
              <a:rPr lang="en-US" sz="2200" b="1" dirty="0">
                <a:solidFill>
                  <a:srgbClr val="FFFFFF"/>
                </a:solidFill>
                <a:latin typeface="Open Sans" pitchFamily="34" charset="0"/>
                <a:ea typeface="Open Sans" pitchFamily="34" charset="-122"/>
                <a:cs typeface="Open Sans" pitchFamily="34" charset="-120"/>
              </a:rPr>
              <a:t>17 to 51</a:t>
            </a:r>
            <a:endParaRPr lang="en-US" sz="2200" dirty="0"/>
          </a:p>
        </p:txBody>
      </p:sp>
      <p:sp>
        <p:nvSpPr>
          <p:cNvPr id="15" name="Text 12"/>
          <p:cNvSpPr txBox="1"/>
          <p:nvPr/>
        </p:nvSpPr>
        <p:spPr>
          <a:xfrm>
            <a:off x="6995160" y="2542032"/>
            <a:ext cx="1627632" cy="841248"/>
          </a:xfrm>
          <a:prstGeom prst="rect">
            <a:avLst/>
          </a:prstGeom>
          <a:noFill/>
          <a:ln/>
        </p:spPr>
        <p:txBody>
          <a:bodyPr wrap="square" lIns="0" tIns="0" rIns="0" bIns="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year-3 entries per intake to the cyber stream, Nov 2024 to Nov 2025; Nov 2026 expected above 25</a:t>
            </a:r>
            <a:endParaRPr lang="en-US" sz="1100" dirty="0"/>
          </a:p>
        </p:txBody>
      </p:sp>
      <p:sp>
        <p:nvSpPr>
          <p:cNvPr id="16" name="Shape 13"/>
          <p:cNvSpPr/>
          <p:nvPr/>
        </p:nvSpPr>
        <p:spPr>
          <a:xfrm>
            <a:off x="5623560" y="3566160"/>
            <a:ext cx="3108960" cy="987552"/>
          </a:xfrm>
          <a:prstGeom prst="rect">
            <a:avLst/>
          </a:prstGeom>
          <a:solidFill>
            <a:srgbClr val="C4A882"/>
          </a:solidFill>
          <a:ln/>
        </p:spPr>
      </p:sp>
      <p:sp>
        <p:nvSpPr>
          <p:cNvPr id="17" name="Text 14"/>
          <p:cNvSpPr txBox="1"/>
          <p:nvPr/>
        </p:nvSpPr>
        <p:spPr>
          <a:xfrm>
            <a:off x="5733288" y="3621024"/>
            <a:ext cx="1234440" cy="877824"/>
          </a:xfrm>
          <a:prstGeom prst="rect">
            <a:avLst/>
          </a:prstGeom>
          <a:noFill/>
          <a:ln/>
        </p:spPr>
        <p:txBody>
          <a:bodyPr wrap="square" lIns="0" tIns="0" rIns="0" bIns="0" rtlCol="0" anchor="ctr"/>
          <a:lstStyle/>
          <a:p>
            <a:pPr indent="0" marL="0">
              <a:buNone/>
            </a:pPr>
            <a:r>
              <a:rPr lang="en-US" sz="2200" b="1" dirty="0">
                <a:solidFill>
                  <a:srgbClr val="1A1A1A"/>
                </a:solidFill>
                <a:latin typeface="Open Sans" pitchFamily="34" charset="0"/>
                <a:ea typeface="Open Sans" pitchFamily="34" charset="-122"/>
                <a:cs typeface="Open Sans" pitchFamily="34" charset="-120"/>
              </a:rPr>
              <a:t>0</a:t>
            </a:r>
            <a:endParaRPr lang="en-US" sz="2200" dirty="0"/>
          </a:p>
        </p:txBody>
      </p:sp>
      <p:sp>
        <p:nvSpPr>
          <p:cNvPr id="18" name="Text 15"/>
          <p:cNvSpPr txBox="1"/>
          <p:nvPr/>
        </p:nvSpPr>
        <p:spPr>
          <a:xfrm>
            <a:off x="6995160" y="3639312"/>
            <a:ext cx="1627632" cy="841248"/>
          </a:xfrm>
          <a:prstGeom prst="rect">
            <a:avLst/>
          </a:prstGeom>
          <a:noFill/>
          <a:ln/>
        </p:spPr>
        <p:txBody>
          <a:bodyPr wrap="square" lIns="0" tIns="0" rIns="0" bIns="0" rtlCol="0" anchor="ctr"/>
          <a:lstStyle/>
          <a:p>
            <a:pPr indent="0" marL="0">
              <a:buNone/>
            </a:pPr>
            <a:r>
              <a:rPr lang="en-US" sz="1100" b="1" dirty="0">
                <a:solidFill>
                  <a:srgbClr val="1A1A1A"/>
                </a:solidFill>
                <a:latin typeface="Open Sans" pitchFamily="34" charset="0"/>
                <a:ea typeface="Open Sans" pitchFamily="34" charset="-122"/>
                <a:cs typeface="Open Sans" pitchFamily="34" charset="-120"/>
              </a:rPr>
              <a:t>postgraduate cyber places at NIBM today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Demand rises with a UK award</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II - WHAT THE MARKET SAYS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6</a:t>
            </a:r>
            <a:endParaRPr lang="en-US" sz="1100" dirty="0"/>
          </a:p>
        </p:txBody>
      </p:sp>
      <p:graphicFrame>
        <p:nvGraphicFramePr>
          <p:cNvPr id="8" name="Chart 0" descr=""/>
          <p:cNvGraphicFramePr/>
          <p:nvPr/>
        </p:nvGraphicFramePr>
        <p:xfrm>
          <a:off x="411480" y="1307592"/>
          <a:ext cx="5394960" cy="33375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035040" y="1353312"/>
            <a:ext cx="2697480" cy="1051560"/>
          </a:xfrm>
          <a:prstGeom prst="rect">
            <a:avLst/>
          </a:prstGeom>
          <a:solidFill>
            <a:srgbClr val="7A5230"/>
          </a:solidFill>
          <a:ln/>
        </p:spPr>
      </p:sp>
      <p:sp>
        <p:nvSpPr>
          <p:cNvPr id="10" name="Text 7"/>
          <p:cNvSpPr txBox="1"/>
          <p:nvPr/>
        </p:nvSpPr>
        <p:spPr>
          <a:xfrm>
            <a:off x="6172200" y="1426464"/>
            <a:ext cx="2423160" cy="457200"/>
          </a:xfrm>
          <a:prstGeom prst="rect">
            <a:avLst/>
          </a:prstGeom>
          <a:noFill/>
          <a:ln/>
        </p:spPr>
        <p:txBody>
          <a:bodyPr wrap="square" lIns="0" tIns="0" rIns="0" bIns="0" rtlCol="0" anchor="t"/>
          <a:lstStyle/>
          <a:p>
            <a:pPr indent="0" marL="0">
              <a:buNone/>
            </a:pPr>
            <a:r>
              <a:rPr lang="en-US" sz="2000" b="1" dirty="0">
                <a:solidFill>
                  <a:srgbClr val="FFFFFF"/>
                </a:solidFill>
                <a:latin typeface="Open Sans" pitchFamily="34" charset="0"/>
                <a:ea typeface="Open Sans" pitchFamily="34" charset="-122"/>
                <a:cs typeface="Open Sans" pitchFamily="34" charset="-120"/>
              </a:rPr>
              <a:t>74% to 84%</a:t>
            </a:r>
            <a:endParaRPr lang="en-US" sz="2000" dirty="0"/>
          </a:p>
        </p:txBody>
      </p:sp>
      <p:sp>
        <p:nvSpPr>
          <p:cNvPr id="11" name="Text 8"/>
          <p:cNvSpPr txBox="1"/>
          <p:nvPr/>
        </p:nvSpPr>
        <p:spPr>
          <a:xfrm>
            <a:off x="6172200" y="1883664"/>
            <a:ext cx="2423160" cy="502920"/>
          </a:xfrm>
          <a:prstGeom prst="rect">
            <a:avLst/>
          </a:prstGeom>
          <a:noFill/>
          <a:ln/>
        </p:spPr>
        <p:txBody>
          <a:bodyPr wrap="square" lIns="0" tIns="0" rIns="0" bIns="0" rtlCol="0" anchor="t"/>
          <a:lstStyle/>
          <a:p>
            <a:pPr indent="0" marL="0">
              <a:buNone/>
            </a:pPr>
            <a:r>
              <a:rPr lang="en-US" sz="1100" b="1" dirty="0">
                <a:solidFill>
                  <a:srgbClr val="FFFFFF"/>
                </a:solidFill>
                <a:latin typeface="Open Sans" pitchFamily="34" charset="0"/>
                <a:ea typeface="Open Sans" pitchFamily="34" charset="-122"/>
                <a:cs typeface="Open Sans" pitchFamily="34" charset="-120"/>
              </a:rPr>
              <a:t>likely or very likely to enrol, before and after the UK award</a:t>
            </a:r>
            <a:endParaRPr lang="en-US" sz="1100" dirty="0"/>
          </a:p>
        </p:txBody>
      </p:sp>
      <p:sp>
        <p:nvSpPr>
          <p:cNvPr id="12" name="Shape 9"/>
          <p:cNvSpPr/>
          <p:nvPr/>
        </p:nvSpPr>
        <p:spPr>
          <a:xfrm>
            <a:off x="6035040" y="2514600"/>
            <a:ext cx="2697480" cy="1051560"/>
          </a:xfrm>
          <a:prstGeom prst="rect">
            <a:avLst/>
          </a:prstGeom>
          <a:solidFill>
            <a:srgbClr val="EB5600"/>
          </a:solidFill>
          <a:ln/>
        </p:spPr>
      </p:sp>
      <p:sp>
        <p:nvSpPr>
          <p:cNvPr id="13" name="Text 10"/>
          <p:cNvSpPr txBox="1"/>
          <p:nvPr/>
        </p:nvSpPr>
        <p:spPr>
          <a:xfrm>
            <a:off x="6172200" y="2587752"/>
            <a:ext cx="2423160" cy="457200"/>
          </a:xfrm>
          <a:prstGeom prst="rect">
            <a:avLst/>
          </a:prstGeom>
          <a:noFill/>
          <a:ln/>
        </p:spPr>
        <p:txBody>
          <a:bodyPr wrap="square" lIns="0" tIns="0" rIns="0" bIns="0" rtlCol="0" anchor="t"/>
          <a:lstStyle/>
          <a:p>
            <a:pPr indent="0" marL="0">
              <a:buNone/>
            </a:pPr>
            <a:r>
              <a:rPr lang="en-US" sz="2000" b="1" dirty="0">
                <a:solidFill>
                  <a:srgbClr val="FFFFFF"/>
                </a:solidFill>
                <a:latin typeface="Open Sans" pitchFamily="34" charset="0"/>
                <a:ea typeface="Open Sans" pitchFamily="34" charset="-122"/>
                <a:cs typeface="Open Sans" pitchFamily="34" charset="-120"/>
              </a:rPr>
              <a:t>23 up, 0 down</a:t>
            </a:r>
            <a:endParaRPr lang="en-US" sz="2000" dirty="0"/>
          </a:p>
        </p:txBody>
      </p:sp>
      <p:sp>
        <p:nvSpPr>
          <p:cNvPr id="14" name="Text 11"/>
          <p:cNvSpPr txBox="1"/>
          <p:nvPr/>
        </p:nvSpPr>
        <p:spPr>
          <a:xfrm>
            <a:off x="6172200" y="3044952"/>
            <a:ext cx="2423160" cy="502920"/>
          </a:xfrm>
          <a:prstGeom prst="rect">
            <a:avLst/>
          </a:prstGeom>
          <a:noFill/>
          <a:ln/>
        </p:spPr>
        <p:txBody>
          <a:bodyPr wrap="square" lIns="0" tIns="0" rIns="0" bIns="0" rtlCol="0" anchor="t"/>
          <a:lstStyle/>
          <a:p>
            <a:pPr indent="0" marL="0">
              <a:buNone/>
            </a:pPr>
            <a:r>
              <a:rPr lang="en-US" sz="1100" b="1" dirty="0">
                <a:solidFill>
                  <a:srgbClr val="FFFFFF"/>
                </a:solidFill>
                <a:latin typeface="Open Sans" pitchFamily="34" charset="0"/>
                <a:ea typeface="Open Sans" pitchFamily="34" charset="-122"/>
                <a:cs typeface="Open Sans" pitchFamily="34" charset="-120"/>
              </a:rPr>
              <a:t>respondents who changed their answer on hearing the award is UK-issued</a:t>
            </a:r>
            <a:endParaRPr lang="en-US" sz="1100" dirty="0"/>
          </a:p>
        </p:txBody>
      </p:sp>
      <p:sp>
        <p:nvSpPr>
          <p:cNvPr id="15" name="Shape 12"/>
          <p:cNvSpPr/>
          <p:nvPr/>
        </p:nvSpPr>
        <p:spPr>
          <a:xfrm>
            <a:off x="6035040" y="3675888"/>
            <a:ext cx="2697480" cy="1005840"/>
          </a:xfrm>
          <a:prstGeom prst="rect">
            <a:avLst/>
          </a:prstGeom>
          <a:solidFill>
            <a:srgbClr val="F2E6D0"/>
          </a:solidFill>
          <a:ln/>
        </p:spPr>
      </p:sp>
      <p:sp>
        <p:nvSpPr>
          <p:cNvPr id="16" name="Text 13"/>
          <p:cNvSpPr txBox="1"/>
          <p:nvPr/>
        </p:nvSpPr>
        <p:spPr>
          <a:xfrm>
            <a:off x="6144768" y="3712464"/>
            <a:ext cx="2478024" cy="950976"/>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n = 57, self-selected internal sample, Sep 2026; price untested. Raised on GCE O/L and A/L, Edexcel and Cambridge, this market knows UK awards.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The affordability corridor</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II - WHAT THE MARKET SAYS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7</a:t>
            </a:r>
            <a:endParaRPr lang="en-US" sz="1100" dirty="0"/>
          </a:p>
        </p:txBody>
      </p:sp>
      <p:graphicFrame>
        <p:nvGraphicFramePr>
          <p:cNvPr id="8" name="Chart 0" descr=""/>
          <p:cNvGraphicFramePr/>
          <p:nvPr/>
        </p:nvGraphicFramePr>
        <p:xfrm>
          <a:off x="411480" y="1307592"/>
          <a:ext cx="4846320" cy="22860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02920" y="3639312"/>
            <a:ext cx="4754880" cy="457200"/>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GBP 24,675 and GBP 13,049 at about LKR 450 per pound (August 2026). Local band LKR 0.35 to 0.78 million from the NIBM competitor matrix; four of six local UK-partner routes publish no fee at all. Living costs excluded.</a:t>
            </a:r>
            <a:endParaRPr lang="en-US" sz="1100" dirty="0"/>
          </a:p>
        </p:txBody>
      </p:sp>
      <p:sp>
        <p:nvSpPr>
          <p:cNvPr id="10" name="Shape 7"/>
          <p:cNvSpPr/>
          <p:nvPr/>
        </p:nvSpPr>
        <p:spPr>
          <a:xfrm>
            <a:off x="411480" y="4142232"/>
            <a:ext cx="4846320" cy="502920"/>
          </a:xfrm>
          <a:prstGeom prst="rect">
            <a:avLst/>
          </a:prstGeom>
          <a:solidFill>
            <a:srgbClr val="F2E6D0"/>
          </a:solidFill>
          <a:ln/>
        </p:spPr>
      </p:sp>
      <p:sp>
        <p:nvSpPr>
          <p:cNvPr id="11" name="Shape 8"/>
          <p:cNvSpPr/>
          <p:nvPr/>
        </p:nvSpPr>
        <p:spPr>
          <a:xfrm>
            <a:off x="411480" y="4142232"/>
            <a:ext cx="82296" cy="502920"/>
          </a:xfrm>
          <a:prstGeom prst="rect">
            <a:avLst/>
          </a:prstGeom>
          <a:solidFill>
            <a:srgbClr val="A07848"/>
          </a:solidFill>
          <a:ln/>
        </p:spPr>
      </p:sp>
      <p:sp>
        <p:nvSpPr>
          <p:cNvPr id="12" name="Text 9"/>
          <p:cNvSpPr txBox="1"/>
          <p:nvPr/>
        </p:nvSpPr>
        <p:spPr>
          <a:xfrm>
            <a:off x="621792" y="4169664"/>
            <a:ext cx="4572000" cy="457200"/>
          </a:xfrm>
          <a:prstGeom prst="rect">
            <a:avLst/>
          </a:prstGeom>
          <a:noFill/>
          <a:ln/>
        </p:spPr>
        <p:txBody>
          <a:bodyPr wrap="square" lIns="0" tIns="0" rIns="0" bIns="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Sterling bought about 264 rupees at the 2022 low and about 450 today: the same UK fee costs a Sri Lankan family roughly 70% more rupees than four years ago.</a:t>
            </a:r>
            <a:endParaRPr lang="en-US" sz="1100" dirty="0"/>
          </a:p>
        </p:txBody>
      </p:sp>
      <p:sp>
        <p:nvSpPr>
          <p:cNvPr id="13" name="Shape 10"/>
          <p:cNvSpPr/>
          <p:nvPr/>
        </p:nvSpPr>
        <p:spPr>
          <a:xfrm>
            <a:off x="5532120" y="1353312"/>
            <a:ext cx="3200400" cy="3291840"/>
          </a:xfrm>
          <a:prstGeom prst="rect">
            <a:avLst/>
          </a:prstGeom>
          <a:solidFill>
            <a:srgbClr val="FFF5E8"/>
          </a:solidFill>
          <a:ln w="12700">
            <a:solidFill>
              <a:srgbClr val="EB5600"/>
            </a:solidFill>
            <a:prstDash val="solid"/>
          </a:ln>
        </p:spPr>
      </p:sp>
      <p:sp>
        <p:nvSpPr>
          <p:cNvPr id="14" name="Text 11"/>
          <p:cNvSpPr txBox="1"/>
          <p:nvPr/>
        </p:nvSpPr>
        <p:spPr>
          <a:xfrm>
            <a:off x="5696712" y="1463040"/>
            <a:ext cx="2871216" cy="274320"/>
          </a:xfrm>
          <a:prstGeom prst="rect">
            <a:avLst/>
          </a:prstGeom>
          <a:noFill/>
          <a:ln/>
        </p:spPr>
        <p:txBody>
          <a:bodyPr wrap="square" lIns="0" tIns="0" rIns="0" bIns="0" rtlCol="0" anchor="t"/>
          <a:lstStyle/>
          <a:p>
            <a:pPr indent="0" marL="0">
              <a:buNone/>
            </a:pPr>
            <a:r>
              <a:rPr lang="en-US" sz="1300" b="1" dirty="0">
                <a:solidFill>
                  <a:srgbClr val="EB5600"/>
                </a:solidFill>
                <a:latin typeface="Open Sans" pitchFamily="34" charset="0"/>
                <a:ea typeface="Open Sans" pitchFamily="34" charset="-122"/>
                <a:cs typeface="Open Sans" pitchFamily="34" charset="-120"/>
              </a:rPr>
              <a:t>Why the corridor matters now</a:t>
            </a:r>
            <a:endParaRPr lang="en-US" sz="1300" dirty="0"/>
          </a:p>
        </p:txBody>
      </p:sp>
      <p:sp>
        <p:nvSpPr>
          <p:cNvPr id="15" name="Text 12"/>
          <p:cNvSpPr txBox="1"/>
          <p:nvPr/>
        </p:nvSpPr>
        <p:spPr>
          <a:xfrm>
            <a:off x="5696712" y="1773936"/>
            <a:ext cx="2871216" cy="28346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A1A1A"/>
                </a:solidFill>
                <a:latin typeface="Open Sans" pitchFamily="34" charset="0"/>
                <a:ea typeface="Open Sans" pitchFamily="34" charset="-122"/>
                <a:cs typeface="Open Sans" pitchFamily="34" charset="-120"/>
              </a:rPr>
              <a:t>Entry-level IT pay starts near LKR 80,000 a month; the online Essex MSc equals about six years of it.</a:t>
            </a:r>
            <a:endParaRPr lang="en-US" sz="1100" dirty="0"/>
          </a:p>
          <a:p>
            <a:pPr marL="342900" indent="-342900">
              <a:spcAft>
                <a:spcPts val="500"/>
              </a:spcAft>
              <a:buSzPct val="100000"/>
              <a:buChar char="•"/>
            </a:pPr>
            <a:r>
              <a:rPr lang="en-US" sz="1100" dirty="0">
                <a:solidFill>
                  <a:srgbClr val="1A1A1A"/>
                </a:solidFill>
                <a:latin typeface="Open Sans" pitchFamily="34" charset="0"/>
                <a:ea typeface="Open Sans" pitchFamily="34" charset="-122"/>
                <a:cs typeface="Open Sans" pitchFamily="34" charset="-120"/>
              </a:rPr>
              <a:t>SLASSCOM: about 17,000 IT graduates a year; entry-level supply is no longer the bottleneck.</a:t>
            </a:r>
            <a:endParaRPr lang="en-US" sz="1100" dirty="0"/>
          </a:p>
          <a:p>
            <a:pPr marL="342900" indent="-342900">
              <a:spcAft>
                <a:spcPts val="500"/>
              </a:spcAft>
              <a:buSzPct val="100000"/>
              <a:buChar char="•"/>
            </a:pPr>
            <a:r>
              <a:rPr lang="en-US" sz="1100" dirty="0">
                <a:solidFill>
                  <a:srgbClr val="1A1A1A"/>
                </a:solidFill>
                <a:latin typeface="Open Sans" pitchFamily="34" charset="0"/>
                <a:ea typeface="Open Sans" pitchFamily="34" charset="-122"/>
                <a:cs typeface="Open Sans" pitchFamily="34" charset="-120"/>
              </a:rPr>
              <a:t>AI is compressing generalist roles: IFS cut 400 to 450 Sri Lankan staff from Nov 2025, citing AI.</a:t>
            </a:r>
            <a:endParaRPr lang="en-US" sz="1100" dirty="0"/>
          </a:p>
          <a:p>
            <a:pPr marL="342900" indent="-342900">
              <a:buSzPct val="100000"/>
              <a:buChar char="•"/>
            </a:pPr>
            <a:r>
              <a:rPr lang="en-US" sz="1100" dirty="0">
                <a:solidFill>
                  <a:srgbClr val="1A1A1A"/>
                </a:solidFill>
                <a:latin typeface="Open Sans" pitchFamily="34" charset="0"/>
                <a:ea typeface="Open Sans" pitchFamily="34" charset="-122"/>
                <a:cs typeface="Open Sans" pitchFamily="34" charset="-120"/>
              </a:rPr>
              <a:t>The rational response is to specialise. A UK Masters priced locally is the only route within reach, a segment neither Essex product serves.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Committed demand, discounted in the open</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II - WHAT THE MARKET SAYS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8</a:t>
            </a:r>
            <a:endParaRPr lang="en-US" sz="1100" dirty="0"/>
          </a:p>
        </p:txBody>
      </p:sp>
      <p:sp>
        <p:nvSpPr>
          <p:cNvPr id="8" name="Shape 6"/>
          <p:cNvSpPr/>
          <p:nvPr/>
        </p:nvSpPr>
        <p:spPr>
          <a:xfrm>
            <a:off x="411480" y="1399032"/>
            <a:ext cx="4937760" cy="676656"/>
          </a:xfrm>
          <a:prstGeom prst="rect">
            <a:avLst/>
          </a:prstGeom>
          <a:solidFill>
            <a:srgbClr val="C4A882"/>
          </a:solidFill>
          <a:ln/>
        </p:spPr>
      </p:sp>
      <p:sp>
        <p:nvSpPr>
          <p:cNvPr id="9" name="Text 7"/>
          <p:cNvSpPr txBox="1"/>
          <p:nvPr/>
        </p:nvSpPr>
        <p:spPr>
          <a:xfrm>
            <a:off x="521208" y="1444752"/>
            <a:ext cx="914400" cy="585216"/>
          </a:xfrm>
          <a:prstGeom prst="rect">
            <a:avLst/>
          </a:prstGeom>
          <a:noFill/>
          <a:ln/>
        </p:spPr>
        <p:txBody>
          <a:bodyPr wrap="square" lIns="0" tIns="0" rIns="0" bIns="0" rtlCol="0" anchor="ctr"/>
          <a:lstStyle/>
          <a:p>
            <a:pPr indent="0" marL="0">
              <a:buNone/>
            </a:pPr>
            <a:r>
              <a:rPr lang="en-US" sz="3000" b="1" dirty="0">
                <a:solidFill>
                  <a:srgbClr val="1A1A1A"/>
                </a:solidFill>
                <a:latin typeface="Open Sans" pitchFamily="34" charset="0"/>
                <a:ea typeface="Open Sans" pitchFamily="34" charset="-122"/>
                <a:cs typeface="Open Sans" pitchFamily="34" charset="-120"/>
              </a:rPr>
              <a:t>57</a:t>
            </a:r>
            <a:endParaRPr lang="en-US" sz="3000" dirty="0"/>
          </a:p>
        </p:txBody>
      </p:sp>
      <p:sp>
        <p:nvSpPr>
          <p:cNvPr id="10" name="Text 8"/>
          <p:cNvSpPr txBox="1"/>
          <p:nvPr/>
        </p:nvSpPr>
        <p:spPr>
          <a:xfrm>
            <a:off x="1463040" y="1472184"/>
            <a:ext cx="3749040" cy="530352"/>
          </a:xfrm>
          <a:prstGeom prst="rect">
            <a:avLst/>
          </a:prstGeom>
          <a:noFill/>
          <a:ln/>
        </p:spPr>
        <p:txBody>
          <a:bodyPr wrap="square" lIns="0" tIns="0" rIns="0" bIns="0" rtlCol="0" anchor="ctr"/>
          <a:lstStyle/>
          <a:p>
            <a:pPr indent="0" marL="0">
              <a:buNone/>
            </a:pPr>
            <a:r>
              <a:rPr lang="en-US" sz="1100" b="1" dirty="0">
                <a:solidFill>
                  <a:srgbClr val="1A1A1A"/>
                </a:solidFill>
                <a:latin typeface="Open Sans" pitchFamily="34" charset="0"/>
                <a:ea typeface="Open Sans" pitchFamily="34" charset="-122"/>
                <a:cs typeface="Open Sans" pitchFamily="34" charset="-120"/>
              </a:rPr>
              <a:t>responded</a:t>
            </a:r>
            <a:endParaRPr lang="en-US" sz="1100" dirty="0"/>
          </a:p>
        </p:txBody>
      </p:sp>
      <p:sp>
        <p:nvSpPr>
          <p:cNvPr id="11" name="Shape 9"/>
          <p:cNvSpPr/>
          <p:nvPr/>
        </p:nvSpPr>
        <p:spPr>
          <a:xfrm>
            <a:off x="731520" y="2185416"/>
            <a:ext cx="4297680" cy="676656"/>
          </a:xfrm>
          <a:prstGeom prst="rect">
            <a:avLst/>
          </a:prstGeom>
          <a:solidFill>
            <a:srgbClr val="A07848"/>
          </a:solidFill>
          <a:ln/>
        </p:spPr>
      </p:sp>
      <p:sp>
        <p:nvSpPr>
          <p:cNvPr id="12" name="Text 10"/>
          <p:cNvSpPr txBox="1"/>
          <p:nvPr/>
        </p:nvSpPr>
        <p:spPr>
          <a:xfrm>
            <a:off x="841248" y="2231136"/>
            <a:ext cx="914400" cy="585216"/>
          </a:xfrm>
          <a:prstGeom prst="rect">
            <a:avLst/>
          </a:prstGeom>
          <a:noFill/>
          <a:ln/>
        </p:spPr>
        <p:txBody>
          <a:bodyPr wrap="square" lIns="0" tIns="0" rIns="0" bIns="0" rtlCol="0" anchor="ctr"/>
          <a:lstStyle/>
          <a:p>
            <a:pPr indent="0" marL="0">
              <a:buNone/>
            </a:pPr>
            <a:r>
              <a:rPr lang="en-US" sz="3000" b="1" dirty="0">
                <a:solidFill>
                  <a:srgbClr val="FFFFFF"/>
                </a:solidFill>
                <a:latin typeface="Open Sans" pitchFamily="34" charset="0"/>
                <a:ea typeface="Open Sans" pitchFamily="34" charset="-122"/>
                <a:cs typeface="Open Sans" pitchFamily="34" charset="-120"/>
              </a:rPr>
              <a:t>41</a:t>
            </a:r>
            <a:endParaRPr lang="en-US" sz="3000" dirty="0"/>
          </a:p>
        </p:txBody>
      </p:sp>
      <p:sp>
        <p:nvSpPr>
          <p:cNvPr id="13" name="Text 11"/>
          <p:cNvSpPr txBox="1"/>
          <p:nvPr/>
        </p:nvSpPr>
        <p:spPr>
          <a:xfrm>
            <a:off x="1783080" y="2258568"/>
            <a:ext cx="3108960" cy="530352"/>
          </a:xfrm>
          <a:prstGeom prst="rect">
            <a:avLst/>
          </a:prstGeom>
          <a:noFill/>
          <a:ln/>
        </p:spPr>
        <p:txBody>
          <a:bodyPr wrap="square" lIns="0" tIns="0" rIns="0" bIns="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positive on a UK award and able to start within 12 months</a:t>
            </a:r>
            <a:endParaRPr lang="en-US" sz="1100" dirty="0"/>
          </a:p>
        </p:txBody>
      </p:sp>
      <p:sp>
        <p:nvSpPr>
          <p:cNvPr id="14" name="Shape 12"/>
          <p:cNvSpPr/>
          <p:nvPr/>
        </p:nvSpPr>
        <p:spPr>
          <a:xfrm>
            <a:off x="1051560" y="2971800"/>
            <a:ext cx="3657600" cy="676656"/>
          </a:xfrm>
          <a:prstGeom prst="rect">
            <a:avLst/>
          </a:prstGeom>
          <a:solidFill>
            <a:srgbClr val="7A5230"/>
          </a:solidFill>
          <a:ln/>
        </p:spPr>
      </p:sp>
      <p:sp>
        <p:nvSpPr>
          <p:cNvPr id="15" name="Text 13"/>
          <p:cNvSpPr txBox="1"/>
          <p:nvPr/>
        </p:nvSpPr>
        <p:spPr>
          <a:xfrm>
            <a:off x="1161288" y="3017520"/>
            <a:ext cx="914400" cy="585216"/>
          </a:xfrm>
          <a:prstGeom prst="rect">
            <a:avLst/>
          </a:prstGeom>
          <a:noFill/>
          <a:ln/>
        </p:spPr>
        <p:txBody>
          <a:bodyPr wrap="square" lIns="0" tIns="0" rIns="0" bIns="0" rtlCol="0" anchor="ctr"/>
          <a:lstStyle/>
          <a:p>
            <a:pPr indent="0" marL="0">
              <a:buNone/>
            </a:pPr>
            <a:r>
              <a:rPr lang="en-US" sz="3000" b="1" dirty="0">
                <a:solidFill>
                  <a:srgbClr val="FFFFFF"/>
                </a:solidFill>
                <a:latin typeface="Open Sans" pitchFamily="34" charset="0"/>
                <a:ea typeface="Open Sans" pitchFamily="34" charset="-122"/>
                <a:cs typeface="Open Sans" pitchFamily="34" charset="-120"/>
              </a:rPr>
              <a:t>29</a:t>
            </a:r>
            <a:endParaRPr lang="en-US" sz="3000" dirty="0"/>
          </a:p>
        </p:txBody>
      </p:sp>
      <p:sp>
        <p:nvSpPr>
          <p:cNvPr id="16" name="Text 14"/>
          <p:cNvSpPr txBox="1"/>
          <p:nvPr/>
        </p:nvSpPr>
        <p:spPr>
          <a:xfrm>
            <a:off x="2103120" y="3044952"/>
            <a:ext cx="2468880" cy="530352"/>
          </a:xfrm>
          <a:prstGeom prst="rect">
            <a:avLst/>
          </a:prstGeom>
          <a:noFill/>
          <a:ln/>
        </p:spPr>
        <p:txBody>
          <a:bodyPr wrap="square" lIns="0" tIns="0" rIns="0" bIns="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central weighting (0.8 / 0.3)</a:t>
            </a:r>
            <a:endParaRPr lang="en-US" sz="1100" dirty="0"/>
          </a:p>
        </p:txBody>
      </p:sp>
      <p:sp>
        <p:nvSpPr>
          <p:cNvPr id="17" name="Shape 15"/>
          <p:cNvSpPr/>
          <p:nvPr/>
        </p:nvSpPr>
        <p:spPr>
          <a:xfrm>
            <a:off x="1371600" y="3758184"/>
            <a:ext cx="3017520" cy="676656"/>
          </a:xfrm>
          <a:prstGeom prst="rect">
            <a:avLst/>
          </a:prstGeom>
          <a:solidFill>
            <a:srgbClr val="EB5600"/>
          </a:solidFill>
          <a:ln/>
        </p:spPr>
      </p:sp>
      <p:sp>
        <p:nvSpPr>
          <p:cNvPr id="18" name="Text 16"/>
          <p:cNvSpPr txBox="1"/>
          <p:nvPr/>
        </p:nvSpPr>
        <p:spPr>
          <a:xfrm>
            <a:off x="1481328" y="3803904"/>
            <a:ext cx="914400" cy="585216"/>
          </a:xfrm>
          <a:prstGeom prst="rect">
            <a:avLst/>
          </a:prstGeom>
          <a:noFill/>
          <a:ln/>
        </p:spPr>
        <p:txBody>
          <a:bodyPr wrap="square" lIns="0" tIns="0" rIns="0" bIns="0" rtlCol="0" anchor="ctr"/>
          <a:lstStyle/>
          <a:p>
            <a:pPr indent="0" marL="0">
              <a:buNone/>
            </a:pPr>
            <a:r>
              <a:rPr lang="en-US" sz="3000" b="1" dirty="0">
                <a:solidFill>
                  <a:srgbClr val="FFFFFF"/>
                </a:solidFill>
                <a:latin typeface="Open Sans" pitchFamily="34" charset="0"/>
                <a:ea typeface="Open Sans" pitchFamily="34" charset="-122"/>
                <a:cs typeface="Open Sans" pitchFamily="34" charset="-120"/>
              </a:rPr>
              <a:t>21</a:t>
            </a:r>
            <a:endParaRPr lang="en-US" sz="3000" dirty="0"/>
          </a:p>
        </p:txBody>
      </p:sp>
      <p:sp>
        <p:nvSpPr>
          <p:cNvPr id="19" name="Text 17"/>
          <p:cNvSpPr txBox="1"/>
          <p:nvPr/>
        </p:nvSpPr>
        <p:spPr>
          <a:xfrm>
            <a:off x="2423160" y="3831336"/>
            <a:ext cx="1828800" cy="530352"/>
          </a:xfrm>
          <a:prstGeom prst="rect">
            <a:avLst/>
          </a:prstGeom>
          <a:noFill/>
          <a:ln/>
        </p:spPr>
        <p:txBody>
          <a:bodyPr wrap="square" lIns="0" tIns="0" rIns="0" bIns="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conservative weighting (0.6 / 0.2)</a:t>
            </a:r>
            <a:endParaRPr lang="en-US" sz="1100" dirty="0"/>
          </a:p>
        </p:txBody>
      </p:sp>
      <p:sp>
        <p:nvSpPr>
          <p:cNvPr id="20" name="Shape 18"/>
          <p:cNvSpPr/>
          <p:nvPr/>
        </p:nvSpPr>
        <p:spPr>
          <a:xfrm>
            <a:off x="5623560" y="1353312"/>
            <a:ext cx="3108960" cy="3246120"/>
          </a:xfrm>
          <a:prstGeom prst="rect">
            <a:avLst/>
          </a:prstGeom>
          <a:solidFill>
            <a:srgbClr val="FFF5E8"/>
          </a:solidFill>
          <a:ln w="12700">
            <a:solidFill>
              <a:srgbClr val="EB5600"/>
            </a:solidFill>
            <a:prstDash val="solid"/>
          </a:ln>
        </p:spPr>
      </p:sp>
      <p:sp>
        <p:nvSpPr>
          <p:cNvPr id="21" name="Text 19"/>
          <p:cNvSpPr txBox="1"/>
          <p:nvPr/>
        </p:nvSpPr>
        <p:spPr>
          <a:xfrm>
            <a:off x="5788152" y="1463040"/>
            <a:ext cx="2779776" cy="274320"/>
          </a:xfrm>
          <a:prstGeom prst="rect">
            <a:avLst/>
          </a:prstGeom>
          <a:noFill/>
          <a:ln/>
        </p:spPr>
        <p:txBody>
          <a:bodyPr wrap="square" lIns="0" tIns="0" rIns="0" bIns="0" rtlCol="0" anchor="t"/>
          <a:lstStyle/>
          <a:p>
            <a:pPr indent="0" marL="0">
              <a:buNone/>
            </a:pPr>
            <a:r>
              <a:rPr lang="en-US" sz="1300" b="1" dirty="0">
                <a:solidFill>
                  <a:srgbClr val="EB5600"/>
                </a:solidFill>
                <a:latin typeface="Open Sans" pitchFamily="34" charset="0"/>
                <a:ea typeface="Open Sans" pitchFamily="34" charset="-122"/>
                <a:cs typeface="Open Sans" pitchFamily="34" charset="-120"/>
              </a:rPr>
              <a:t>Per intake, by entry lane</a:t>
            </a:r>
            <a:endParaRPr lang="en-US" sz="1300" dirty="0"/>
          </a:p>
        </p:txBody>
      </p:sp>
      <p:sp>
        <p:nvSpPr>
          <p:cNvPr id="22" name="Text 20"/>
          <p:cNvSpPr txBox="1"/>
          <p:nvPr/>
        </p:nvSpPr>
        <p:spPr>
          <a:xfrm>
            <a:off x="5788152" y="1773936"/>
            <a:ext cx="2779776" cy="2788920"/>
          </a:xfrm>
          <a:prstGeom prst="rect">
            <a:avLst/>
          </a:prstGeom>
          <a:noFill/>
          <a:ln/>
        </p:spPr>
        <p:txBody>
          <a:bodyPr wrap="square" lIns="0" tIns="0" rIns="0" bIns="0" rtlCol="0" anchor="t"/>
          <a:lstStyle/>
          <a:p>
            <a:pPr indent="0" marL="0">
              <a:spcAft>
                <a:spcPts val="600"/>
              </a:spcAft>
              <a:buNone/>
            </a:pPr>
            <a:r>
              <a:rPr lang="en-US" sz="1100" dirty="0">
                <a:solidFill>
                  <a:srgbClr val="1A1A1A"/>
                </a:solidFill>
                <a:latin typeface="Open Sans" pitchFamily="34" charset="0"/>
                <a:ea typeface="Open Sans" pitchFamily="34" charset="-122"/>
                <a:cs typeface="Open Sans" pitchFamily="34" charset="-120"/>
              </a:rPr>
              <a:t>Survey rates: 37.5% conservative, 50% central (21 and 29 of 57).</a:t>
            </a:r>
            <a:endParaRPr lang="en-US" sz="1100" dirty="0"/>
          </a:p>
          <a:p>
            <a:pPr indent="0" marL="0">
              <a:spcAft>
                <a:spcPts val="400"/>
              </a:spcAft>
              <a:buNone/>
            </a:pPr>
            <a:r>
              <a:rPr lang="en-US" sz="1100" b="1" dirty="0">
                <a:solidFill>
                  <a:srgbClr val="1A1A1A"/>
                </a:solidFill>
                <a:latin typeface="Open Sans" pitchFamily="34" charset="0"/>
                <a:ea typeface="Open Sans" pitchFamily="34" charset="-122"/>
                <a:cs typeface="Open Sans" pitchFamily="34" charset="-120"/>
              </a:rPr>
              <a:t>Direct lane, ~20 cyber graduates a year today:  7 to 10</a:t>
            </a:r>
            <a:endParaRPr lang="en-US" sz="1100" dirty="0"/>
          </a:p>
          <a:p>
            <a:pPr indent="0" marL="0">
              <a:spcAft>
                <a:spcPts val="400"/>
              </a:spcAft>
              <a:buNone/>
            </a:pPr>
            <a:r>
              <a:rPr lang="en-US" sz="1100" b="1" dirty="0">
                <a:solidFill>
                  <a:srgbClr val="1A1A1A"/>
                </a:solidFill>
                <a:latin typeface="Open Sans" pitchFamily="34" charset="0"/>
                <a:ea typeface="Open Sans" pitchFamily="34" charset="-122"/>
                <a:cs typeface="Open Sans" pitchFamily="34" charset="-120"/>
              </a:rPr>
              <a:t>Bridged lane, ~100 other computing graduates, rate halved for bridge friction:  19 to 25</a:t>
            </a:r>
            <a:endParaRPr lang="en-US" sz="1100" dirty="0"/>
          </a:p>
          <a:p>
            <a:pPr indent="0" marL="0">
              <a:spcAft>
                <a:spcPts val="600"/>
              </a:spcAft>
              <a:buNone/>
            </a:pPr>
            <a:r>
              <a:rPr lang="en-US" sz="1100" b="1" dirty="0">
                <a:solidFill>
                  <a:srgbClr val="1A1A1A"/>
                </a:solidFill>
                <a:latin typeface="Open Sans" pitchFamily="34" charset="0"/>
                <a:ea typeface="Open Sans" pitchFamily="34" charset="-122"/>
                <a:cs typeface="Open Sans" pitchFamily="34" charset="-120"/>
              </a:rPr>
              <a:t>Together:  26 to 35 per intake</a:t>
            </a:r>
            <a:endParaRPr lang="en-US" sz="1100" dirty="0"/>
          </a:p>
          <a:p>
            <a:pPr indent="0" marL="0">
              <a:buNone/>
            </a:pPr>
            <a:r>
              <a:rPr lang="en-US" sz="1100" i="1" dirty="0">
                <a:solidFill>
                  <a:srgbClr val="1A1A1A"/>
                </a:solidFill>
                <a:latin typeface="Open Sans" pitchFamily="34" charset="0"/>
                <a:ea typeface="Open Sans" pitchFamily="34" charset="-122"/>
                <a:cs typeface="Open Sans" pitchFamily="34" charset="-120"/>
              </a:rPr>
              <a:t>Not counted: 346 recent alumni, working professionals, and the direct lane doubling from 2027. Public benchmark: UCSC's state-sector Master of Cybersecurity took 28 in its 2023 intake.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Industry describes a postgraduate gap</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II - WHAT THE MARKET SAYS</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9</a:t>
            </a:r>
            <a:endParaRPr lang="en-US" sz="1100" dirty="0"/>
          </a:p>
        </p:txBody>
      </p:sp>
      <p:graphicFrame>
        <p:nvGraphicFramePr>
          <p:cNvPr id="8" name="Chart 0" descr=""/>
          <p:cNvGraphicFramePr/>
          <p:nvPr/>
        </p:nvGraphicFramePr>
        <p:xfrm>
          <a:off x="411480" y="1307592"/>
          <a:ext cx="4160520" cy="18288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02920" y="3163824"/>
            <a:ext cx="4069080" cy="713232"/>
          </a:xfrm>
          <a:prstGeom prst="rect">
            <a:avLst/>
          </a:prstGeom>
          <a:noFill/>
          <a:ln/>
        </p:spPr>
        <p:txBody>
          <a:bodyPr wrap="square" lIns="0" tIns="0" rIns="0" bIns="0" rtlCol="0" anchor="t"/>
          <a:lstStyle/>
          <a:p>
            <a:pPr indent="0" marL="0">
              <a:buNone/>
            </a:pPr>
            <a:r>
              <a:rPr lang="en-US" sz="1100" dirty="0">
                <a:solidFill>
                  <a:srgbClr val="595959"/>
                </a:solidFill>
                <a:latin typeface="Open Sans" pitchFamily="34" charset="0"/>
                <a:ea typeface="Open Sans" pitchFamily="34" charset="-122"/>
                <a:cs typeface="Open Sans" pitchFamily="34" charset="-120"/>
              </a:rPr>
              <a:t>Sponsorship: 2 yes, 4 maybe, 0 no, 1 not applicable. Contribution: 6 yes, 1 maybe. n = 7 senior respondents, none NIBM staff: IT services, telecom, insurance and its regulator, three national-university academics.</a:t>
            </a:r>
            <a:endParaRPr lang="en-US" sz="1100" dirty="0"/>
          </a:p>
        </p:txBody>
      </p:sp>
      <p:sp>
        <p:nvSpPr>
          <p:cNvPr id="10" name="Shape 7"/>
          <p:cNvSpPr/>
          <p:nvPr/>
        </p:nvSpPr>
        <p:spPr>
          <a:xfrm>
            <a:off x="411480" y="3913632"/>
            <a:ext cx="4160520" cy="731520"/>
          </a:xfrm>
          <a:prstGeom prst="rect">
            <a:avLst/>
          </a:prstGeom>
          <a:solidFill>
            <a:srgbClr val="F0DFC0"/>
          </a:solidFill>
          <a:ln/>
        </p:spPr>
      </p:sp>
      <p:sp>
        <p:nvSpPr>
          <p:cNvPr id="11" name="Shape 8"/>
          <p:cNvSpPr/>
          <p:nvPr/>
        </p:nvSpPr>
        <p:spPr>
          <a:xfrm>
            <a:off x="411480" y="3913632"/>
            <a:ext cx="82296" cy="731520"/>
          </a:xfrm>
          <a:prstGeom prst="rect">
            <a:avLst/>
          </a:prstGeom>
          <a:solidFill>
            <a:srgbClr val="A07848"/>
          </a:solidFill>
          <a:ln/>
        </p:spPr>
      </p:sp>
      <p:sp>
        <p:nvSpPr>
          <p:cNvPr id="12" name="Text 9"/>
          <p:cNvSpPr txBox="1"/>
          <p:nvPr/>
        </p:nvSpPr>
        <p:spPr>
          <a:xfrm>
            <a:off x="621792" y="3931920"/>
            <a:ext cx="3886200" cy="694944"/>
          </a:xfrm>
          <a:prstGeom prst="rect">
            <a:avLst/>
          </a:prstGeom>
          <a:noFill/>
          <a:ln/>
        </p:spPr>
        <p:txBody>
          <a:bodyPr wrap="square" lIns="0" tIns="0" rIns="0" bIns="0" rtlCol="0" anchor="ctr"/>
          <a:lstStyle/>
          <a:p>
            <a:pPr indent="0" marL="0">
              <a:buNone/>
            </a:pPr>
            <a:r>
              <a:rPr lang="en-US" sz="1100" i="1" dirty="0">
                <a:solidFill>
                  <a:srgbClr val="1A1A1A"/>
                </a:solidFill>
                <a:latin typeface="Open Sans" pitchFamily="34" charset="0"/>
                <a:ea typeface="Open Sans" pitchFamily="34" charset="-122"/>
                <a:cs typeface="Open Sans" pitchFamily="34" charset="-120"/>
              </a:rPr>
              <a:t>"Graduates may identify vulnerabilities but struggle to validate findings, prioritise business risks, and recommend fixes that account for availability, cost, and operational constraints."  - IT services practitioner</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800600" y="1353312"/>
          <a:ext cx="3931920" cy="914400"/>
        </p:xfrm>
        <a:graphic>
          <a:graphicData uri="http://schemas.openxmlformats.org/drawingml/2006/table">
            <a:tbl>
              <a:tblPr/>
              <a:tblGrid>
                <a:gridCol w="2057400"/>
                <a:gridCol w="1874520"/>
              </a:tblGrid>
              <a:tr h="292608">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What industry asked for</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Essex MSc profile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r>
              <a:tr h="40233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Digital forensics; incident response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Forensics core; IR to map to modules</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Network security in production</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Core to the campus MSc</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Application and API security</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Security by design; extend locally</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Cloud security and architecture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EB5600"/>
                          </a:solidFill>
                          <a:latin typeface="Open Sans" pitchFamily="34" charset="0"/>
                          <a:ea typeface="Open Sans" pitchFamily="34" charset="-122"/>
                          <a:cs typeface="Open Sans" pitchFamily="34" charset="-120"/>
                        </a:rPr>
                        <a:t>Local option or capstone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GRC as enterprise risk</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EB5600"/>
                          </a:solidFill>
                          <a:latin typeface="Open Sans" pitchFamily="34" charset="0"/>
                          <a:ea typeface="Open Sans" pitchFamily="34" charset="-122"/>
                          <a:cs typeface="Open Sans" pitchFamily="34" charset="-120"/>
                        </a:rPr>
                        <a:t>Local option or capstone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Employer-reviewed capstone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Dissertation and capstone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The panel already teaching the stream below</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III - HOW WE DELIVER</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10</a:t>
            </a:r>
            <a:endParaRPr lang="en-US" sz="1100" dirty="0"/>
          </a:p>
        </p:txBody>
      </p:sp>
      <p:sp>
        <p:nvSpPr>
          <p:cNvPr id="8" name="Text 6"/>
          <p:cNvSpPr txBox="1"/>
          <p:nvPr/>
        </p:nvSpPr>
        <p:spPr>
          <a:xfrm>
            <a:off x="411480" y="1335024"/>
            <a:ext cx="4297680" cy="256032"/>
          </a:xfrm>
          <a:prstGeom prst="rect">
            <a:avLst/>
          </a:prstGeom>
          <a:noFill/>
          <a:ln/>
        </p:spPr>
        <p:txBody>
          <a:bodyPr wrap="square" lIns="0" tIns="0" rIns="0" bIns="0" rtlCol="0" anchor="t"/>
          <a:lstStyle/>
          <a:p>
            <a:pPr indent="0" marL="0">
              <a:buNone/>
            </a:pPr>
            <a:r>
              <a:rPr lang="en-US" sz="1100" b="1" dirty="0">
                <a:solidFill>
                  <a:srgbClr val="7A5230"/>
                </a:solidFill>
                <a:latin typeface="Open Sans" pitchFamily="34" charset="0"/>
                <a:ea typeface="Open Sans" pitchFamily="34" charset="-122"/>
                <a:cs typeface="Open Sans" pitchFamily="34" charset="-120"/>
              </a:rPr>
              <a:t>Proposed panel, subject to availability and approval</a:t>
            </a:r>
            <a:endParaRPr lang="en-US" sz="1100" dirty="0"/>
          </a:p>
        </p:txBody>
      </p:sp>
      <p:sp>
        <p:nvSpPr>
          <p:cNvPr id="9" name="Shape 7"/>
          <p:cNvSpPr/>
          <p:nvPr/>
        </p:nvSpPr>
        <p:spPr>
          <a:xfrm>
            <a:off x="411480" y="1591056"/>
            <a:ext cx="4297680" cy="731520"/>
          </a:xfrm>
          <a:prstGeom prst="rect">
            <a:avLst/>
          </a:prstGeom>
          <a:solidFill>
            <a:srgbClr val="FFFFFF"/>
          </a:solidFill>
          <a:ln w="9525">
            <a:solidFill>
              <a:srgbClr val="CCCCCC"/>
            </a:solidFill>
            <a:prstDash val="solid"/>
          </a:ln>
        </p:spPr>
      </p:sp>
      <p:sp>
        <p:nvSpPr>
          <p:cNvPr id="10" name="Shape 8"/>
          <p:cNvSpPr/>
          <p:nvPr/>
        </p:nvSpPr>
        <p:spPr>
          <a:xfrm>
            <a:off x="411480" y="1591056"/>
            <a:ext cx="73152" cy="731520"/>
          </a:xfrm>
          <a:prstGeom prst="rect">
            <a:avLst/>
          </a:prstGeom>
          <a:solidFill>
            <a:srgbClr val="7A5230"/>
          </a:solidFill>
          <a:ln/>
        </p:spPr>
      </p:sp>
      <p:sp>
        <p:nvSpPr>
          <p:cNvPr id="11" name="Text 9"/>
          <p:cNvSpPr txBox="1"/>
          <p:nvPr/>
        </p:nvSpPr>
        <p:spPr>
          <a:xfrm>
            <a:off x="576072" y="1682496"/>
            <a:ext cx="4041648" cy="201168"/>
          </a:xfrm>
          <a:prstGeom prst="rect">
            <a:avLst/>
          </a:prstGeom>
          <a:noFill/>
          <a:ln/>
        </p:spPr>
        <p:txBody>
          <a:bodyPr wrap="square" lIns="0" tIns="0" rIns="0" bIns="0" rtlCol="0" anchor="t"/>
          <a:lstStyle/>
          <a:p>
            <a:pPr indent="0" marL="0">
              <a:buNone/>
            </a:pPr>
            <a:r>
              <a:rPr lang="en-US" sz="1100" b="1" dirty="0">
                <a:solidFill>
                  <a:srgbClr val="7A5230"/>
                </a:solidFill>
                <a:latin typeface="Open Sans" pitchFamily="34" charset="0"/>
                <a:ea typeface="Open Sans" pitchFamily="34" charset="-122"/>
                <a:cs typeface="Open Sans" pitchFamily="34" charset="-120"/>
              </a:rPr>
              <a:t>Assoc. Prof. Manjula Sandirigama</a:t>
            </a:r>
            <a:endParaRPr lang="en-US" sz="1100" dirty="0"/>
          </a:p>
        </p:txBody>
      </p:sp>
      <p:sp>
        <p:nvSpPr>
          <p:cNvPr id="12" name="Text 10"/>
          <p:cNvSpPr txBox="1"/>
          <p:nvPr/>
        </p:nvSpPr>
        <p:spPr>
          <a:xfrm>
            <a:off x="576072" y="1883664"/>
            <a:ext cx="4041648" cy="347472"/>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Peradeniya; secure protocols; Attorney-at-Law. Leads Cybersecurity II and Research Project Delivery.</a:t>
            </a:r>
            <a:endParaRPr lang="en-US" sz="1100" dirty="0"/>
          </a:p>
        </p:txBody>
      </p:sp>
      <p:sp>
        <p:nvSpPr>
          <p:cNvPr id="13" name="Shape 11"/>
          <p:cNvSpPr/>
          <p:nvPr/>
        </p:nvSpPr>
        <p:spPr>
          <a:xfrm>
            <a:off x="411480" y="2368296"/>
            <a:ext cx="4297680" cy="731520"/>
          </a:xfrm>
          <a:prstGeom prst="rect">
            <a:avLst/>
          </a:prstGeom>
          <a:solidFill>
            <a:srgbClr val="FFFFFF"/>
          </a:solidFill>
          <a:ln w="9525">
            <a:solidFill>
              <a:srgbClr val="CCCCCC"/>
            </a:solidFill>
            <a:prstDash val="solid"/>
          </a:ln>
        </p:spPr>
      </p:sp>
      <p:sp>
        <p:nvSpPr>
          <p:cNvPr id="14" name="Shape 12"/>
          <p:cNvSpPr/>
          <p:nvPr/>
        </p:nvSpPr>
        <p:spPr>
          <a:xfrm>
            <a:off x="411480" y="2368296"/>
            <a:ext cx="73152" cy="731520"/>
          </a:xfrm>
          <a:prstGeom prst="rect">
            <a:avLst/>
          </a:prstGeom>
          <a:solidFill>
            <a:srgbClr val="7A5230"/>
          </a:solidFill>
          <a:ln/>
        </p:spPr>
      </p:sp>
      <p:sp>
        <p:nvSpPr>
          <p:cNvPr id="15" name="Text 13"/>
          <p:cNvSpPr txBox="1"/>
          <p:nvPr/>
        </p:nvSpPr>
        <p:spPr>
          <a:xfrm>
            <a:off x="576072" y="2459736"/>
            <a:ext cx="4041648" cy="201168"/>
          </a:xfrm>
          <a:prstGeom prst="rect">
            <a:avLst/>
          </a:prstGeom>
          <a:noFill/>
          <a:ln/>
        </p:spPr>
        <p:txBody>
          <a:bodyPr wrap="square" lIns="0" tIns="0" rIns="0" bIns="0" rtlCol="0" anchor="t"/>
          <a:lstStyle/>
          <a:p>
            <a:pPr indent="0" marL="0">
              <a:buNone/>
            </a:pPr>
            <a:r>
              <a:rPr lang="en-US" sz="1100" b="1" dirty="0">
                <a:solidFill>
                  <a:srgbClr val="7A5230"/>
                </a:solidFill>
                <a:latin typeface="Open Sans" pitchFamily="34" charset="0"/>
                <a:ea typeface="Open Sans" pitchFamily="34" charset="-122"/>
                <a:cs typeface="Open Sans" pitchFamily="34" charset="-120"/>
              </a:rPr>
              <a:t>Dr Krishanthmohan Ratnam</a:t>
            </a:r>
            <a:endParaRPr lang="en-US" sz="1100" dirty="0"/>
          </a:p>
        </p:txBody>
      </p:sp>
      <p:sp>
        <p:nvSpPr>
          <p:cNvPr id="16" name="Text 14"/>
          <p:cNvSpPr txBox="1"/>
          <p:nvPr/>
        </p:nvSpPr>
        <p:spPr>
          <a:xfrm>
            <a:off x="576072" y="2660904"/>
            <a:ext cx="4041648" cy="347472"/>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Sri Jayewardenepura; survivable network design. Leads Networked Systems and Advanced Network Systems.</a:t>
            </a:r>
            <a:endParaRPr lang="en-US" sz="1100" dirty="0"/>
          </a:p>
        </p:txBody>
      </p:sp>
      <p:sp>
        <p:nvSpPr>
          <p:cNvPr id="17" name="Shape 15"/>
          <p:cNvSpPr/>
          <p:nvPr/>
        </p:nvSpPr>
        <p:spPr>
          <a:xfrm>
            <a:off x="411480" y="3145536"/>
            <a:ext cx="4297680" cy="731520"/>
          </a:xfrm>
          <a:prstGeom prst="rect">
            <a:avLst/>
          </a:prstGeom>
          <a:solidFill>
            <a:srgbClr val="FFFFFF"/>
          </a:solidFill>
          <a:ln w="9525">
            <a:solidFill>
              <a:srgbClr val="CCCCCC"/>
            </a:solidFill>
            <a:prstDash val="solid"/>
          </a:ln>
        </p:spPr>
      </p:sp>
      <p:sp>
        <p:nvSpPr>
          <p:cNvPr id="18" name="Shape 16"/>
          <p:cNvSpPr/>
          <p:nvPr/>
        </p:nvSpPr>
        <p:spPr>
          <a:xfrm>
            <a:off x="411480" y="3145536"/>
            <a:ext cx="73152" cy="731520"/>
          </a:xfrm>
          <a:prstGeom prst="rect">
            <a:avLst/>
          </a:prstGeom>
          <a:solidFill>
            <a:srgbClr val="EB5600"/>
          </a:solidFill>
          <a:ln/>
        </p:spPr>
      </p:sp>
      <p:sp>
        <p:nvSpPr>
          <p:cNvPr id="19" name="Text 17"/>
          <p:cNvSpPr txBox="1"/>
          <p:nvPr/>
        </p:nvSpPr>
        <p:spPr>
          <a:xfrm>
            <a:off x="576072" y="3236976"/>
            <a:ext cx="4041648" cy="201168"/>
          </a:xfrm>
          <a:prstGeom prst="rect">
            <a:avLst/>
          </a:prstGeom>
          <a:noFill/>
          <a:ln/>
        </p:spPr>
        <p:txBody>
          <a:bodyPr wrap="square" lIns="0" tIns="0" rIns="0" bIns="0" rtlCol="0" anchor="t"/>
          <a:lstStyle/>
          <a:p>
            <a:pPr indent="0" marL="0">
              <a:buNone/>
            </a:pPr>
            <a:r>
              <a:rPr lang="en-US" sz="1100" b="1" dirty="0">
                <a:solidFill>
                  <a:srgbClr val="EB5600"/>
                </a:solidFill>
                <a:latin typeface="Open Sans" pitchFamily="34" charset="0"/>
                <a:ea typeface="Open Sans" pitchFamily="34" charset="-122"/>
                <a:cs typeface="Open Sans" pitchFamily="34" charset="-120"/>
              </a:rPr>
              <a:t>Industry practitioners and further academics</a:t>
            </a:r>
            <a:endParaRPr lang="en-US" sz="1100" dirty="0"/>
          </a:p>
        </p:txBody>
      </p:sp>
      <p:sp>
        <p:nvSpPr>
          <p:cNvPr id="20" name="Text 18"/>
          <p:cNvSpPr txBox="1"/>
          <p:nvPr/>
        </p:nvSpPr>
        <p:spPr>
          <a:xfrm>
            <a:off x="576072" y="3438144"/>
            <a:ext cx="4041648" cy="347472"/>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IT services, telecom, insurance and its regulator. Four industry and two further academic volunteers so far.</a:t>
            </a:r>
            <a:endParaRPr lang="en-US" sz="1100" dirty="0"/>
          </a:p>
        </p:txBody>
      </p:sp>
      <p:sp>
        <p:nvSpPr>
          <p:cNvPr id="21" name="Shape 19"/>
          <p:cNvSpPr/>
          <p:nvPr/>
        </p:nvSpPr>
        <p:spPr>
          <a:xfrm>
            <a:off x="411480" y="3922776"/>
            <a:ext cx="4297680" cy="731520"/>
          </a:xfrm>
          <a:prstGeom prst="rect">
            <a:avLst/>
          </a:prstGeom>
          <a:solidFill>
            <a:srgbClr val="FFFFFF"/>
          </a:solidFill>
          <a:ln w="9525">
            <a:solidFill>
              <a:srgbClr val="CCCCCC"/>
            </a:solidFill>
            <a:prstDash val="solid"/>
          </a:ln>
        </p:spPr>
      </p:sp>
      <p:sp>
        <p:nvSpPr>
          <p:cNvPr id="22" name="Shape 20"/>
          <p:cNvSpPr/>
          <p:nvPr/>
        </p:nvSpPr>
        <p:spPr>
          <a:xfrm>
            <a:off x="411480" y="3922776"/>
            <a:ext cx="73152" cy="731520"/>
          </a:xfrm>
          <a:prstGeom prst="rect">
            <a:avLst/>
          </a:prstGeom>
          <a:solidFill>
            <a:srgbClr val="A07848"/>
          </a:solidFill>
          <a:ln/>
        </p:spPr>
      </p:sp>
      <p:sp>
        <p:nvSpPr>
          <p:cNvPr id="23" name="Text 21"/>
          <p:cNvSpPr txBox="1"/>
          <p:nvPr/>
        </p:nvSpPr>
        <p:spPr>
          <a:xfrm>
            <a:off x="576072" y="4014216"/>
            <a:ext cx="4041648" cy="201168"/>
          </a:xfrm>
          <a:prstGeom prst="rect">
            <a:avLst/>
          </a:prstGeom>
          <a:noFill/>
          <a:ln/>
        </p:spPr>
        <p:txBody>
          <a:bodyPr wrap="square" lIns="0" tIns="0" rIns="0" bIns="0" rtlCol="0" anchor="t"/>
          <a:lstStyle/>
          <a:p>
            <a:pPr indent="0" marL="0">
              <a:buNone/>
            </a:pPr>
            <a:r>
              <a:rPr lang="en-US" sz="1100" b="1" dirty="0">
                <a:solidFill>
                  <a:srgbClr val="A07848"/>
                </a:solidFill>
                <a:latin typeface="Open Sans" pitchFamily="34" charset="0"/>
                <a:ea typeface="Open Sans" pitchFamily="34" charset="-122"/>
                <a:cs typeface="Open Sans" pitchFamily="34" charset="-120"/>
              </a:rPr>
              <a:t>NIBM cyber faculty</a:t>
            </a:r>
            <a:endParaRPr lang="en-US" sz="1100" dirty="0"/>
          </a:p>
        </p:txBody>
      </p:sp>
      <p:sp>
        <p:nvSpPr>
          <p:cNvPr id="24" name="Text 22"/>
          <p:cNvSpPr txBox="1"/>
          <p:nvPr/>
        </p:nvSpPr>
        <p:spPr>
          <a:xfrm>
            <a:off x="576072" y="4215384"/>
            <a:ext cx="4041648" cy="347472"/>
          </a:xfrm>
          <a:prstGeom prst="rect">
            <a:avLst/>
          </a:prstGeom>
          <a:noFill/>
          <a:ln/>
        </p:spPr>
        <p:txBody>
          <a:bodyPr wrap="square" lIns="0" tIns="0" rIns="0" bIns="0" rtlCol="0" anchor="t"/>
          <a:lstStyle/>
          <a:p>
            <a:pPr indent="0" marL="0">
              <a:buNone/>
            </a:pPr>
            <a:r>
              <a:rPr lang="en-US" sz="1100" dirty="0">
                <a:solidFill>
                  <a:srgbClr val="1A1A1A"/>
                </a:solidFill>
                <a:latin typeface="Open Sans" pitchFamily="34" charset="0"/>
                <a:ea typeface="Open Sans" pitchFamily="34" charset="-122"/>
                <a:cs typeface="Open Sans" pitchFamily="34" charset="-120"/>
              </a:rPr>
              <a:t>Programme coordination, quality processes, assessment administration, student support.</a:t>
            </a:r>
            <a:endParaRPr lang="en-US" sz="1100" dirty="0"/>
          </a:p>
        </p:txBody>
      </p:sp>
      <p:sp>
        <p:nvSpPr>
          <p:cNvPr id="25" name="Shape 23"/>
          <p:cNvSpPr/>
          <p:nvPr/>
        </p:nvSpPr>
        <p:spPr>
          <a:xfrm>
            <a:off x="4892040" y="1335024"/>
            <a:ext cx="3840480" cy="2029968"/>
          </a:xfrm>
          <a:prstGeom prst="rect">
            <a:avLst/>
          </a:prstGeom>
          <a:solidFill>
            <a:srgbClr val="C4A882"/>
          </a:solidFill>
          <a:ln/>
        </p:spPr>
      </p:sp>
      <p:sp>
        <p:nvSpPr>
          <p:cNvPr id="26" name="Text 24"/>
          <p:cNvSpPr txBox="1"/>
          <p:nvPr/>
        </p:nvSpPr>
        <p:spPr>
          <a:xfrm>
            <a:off x="5056632" y="1408176"/>
            <a:ext cx="3511296" cy="274320"/>
          </a:xfrm>
          <a:prstGeom prst="rect">
            <a:avLst/>
          </a:prstGeom>
          <a:noFill/>
          <a:ln/>
        </p:spPr>
        <p:txBody>
          <a:bodyPr wrap="square" lIns="0" tIns="0" rIns="0" bIns="0" rtlCol="0" anchor="t"/>
          <a:lstStyle/>
          <a:p>
            <a:pPr indent="0" marL="0">
              <a:buNone/>
            </a:pPr>
            <a:r>
              <a:rPr lang="en-US" sz="1300" b="1" dirty="0">
                <a:solidFill>
                  <a:srgbClr val="1A1A1A"/>
                </a:solidFill>
                <a:latin typeface="Open Sans" pitchFamily="34" charset="0"/>
                <a:ea typeface="Open Sans" pitchFamily="34" charset="-122"/>
                <a:cs typeface="Open Sans" pitchFamily="34" charset="-120"/>
              </a:rPr>
              <a:t>Structure and entry</a:t>
            </a:r>
            <a:endParaRPr lang="en-US" sz="1300" dirty="0"/>
          </a:p>
        </p:txBody>
      </p:sp>
      <p:sp>
        <p:nvSpPr>
          <p:cNvPr id="27" name="Text 25"/>
          <p:cNvSpPr txBox="1"/>
          <p:nvPr/>
        </p:nvSpPr>
        <p:spPr>
          <a:xfrm>
            <a:off x="5056632" y="1700784"/>
            <a:ext cx="3511296" cy="16459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A1A1A"/>
                </a:solidFill>
                <a:latin typeface="Open Sans" pitchFamily="34" charset="0"/>
                <a:ea typeface="Open Sans" pitchFamily="34" charset="-122"/>
                <a:cs typeface="Open Sans" pitchFamily="34" charset="-120"/>
              </a:rPr>
              <a:t>MSc 180 credits, PgDip exit at 120; evening and weekend delivery</a:t>
            </a:r>
            <a:endParaRPr lang="en-US" sz="1100" dirty="0"/>
          </a:p>
          <a:p>
            <a:pPr marL="342900" indent="-342900">
              <a:spcAft>
                <a:spcPts val="300"/>
              </a:spcAft>
              <a:buSzPct val="100000"/>
              <a:buChar char="•"/>
            </a:pPr>
            <a:r>
              <a:rPr lang="en-US" sz="1100" dirty="0">
                <a:solidFill>
                  <a:srgbClr val="1A1A1A"/>
                </a:solidFill>
                <a:latin typeface="Open Sans" pitchFamily="34" charset="0"/>
                <a:ea typeface="Open Sans" pitchFamily="34" charset="-122"/>
                <a:cs typeface="Open Sans" pitchFamily="34" charset="-120"/>
              </a:rPr>
              <a:t>Employer-reviewed capstone; supervision from the university panel</a:t>
            </a:r>
            <a:endParaRPr lang="en-US" sz="1100" dirty="0"/>
          </a:p>
          <a:p>
            <a:pPr marL="342900" indent="-342900">
              <a:spcAft>
                <a:spcPts val="300"/>
              </a:spcAft>
              <a:buSzPct val="100000"/>
              <a:buChar char="•"/>
            </a:pPr>
            <a:r>
              <a:rPr lang="en-US" sz="1100" dirty="0">
                <a:solidFill>
                  <a:srgbClr val="1A1A1A"/>
                </a:solidFill>
                <a:latin typeface="Open Sans" pitchFamily="34" charset="0"/>
                <a:ea typeface="Open Sans" pitchFamily="34" charset="-122"/>
                <a:cs typeface="Open Sans" pitchFamily="34" charset="-120"/>
              </a:rPr>
              <a:t>Direct entry: network and cyber graduates</a:t>
            </a:r>
            <a:endParaRPr lang="en-US" sz="1100" dirty="0"/>
          </a:p>
          <a:p>
            <a:pPr marL="342900" indent="-342900">
              <a:buSzPct val="100000"/>
              <a:buChar char="•"/>
            </a:pPr>
            <a:r>
              <a:rPr lang="en-US" sz="1100" dirty="0">
                <a:solidFill>
                  <a:srgbClr val="1A1A1A"/>
                </a:solidFill>
                <a:latin typeface="Open Sans" pitchFamily="34" charset="0"/>
                <a:ea typeface="Open Sans" pitchFamily="34" charset="-122"/>
                <a:cs typeface="Open Sans" pitchFamily="34" charset="-120"/>
              </a:rPr>
              <a:t>Bridged entry for other computing graduates, subject to Essex approval: professional qualification plus experience, or a priced NIBM bridge</a:t>
            </a:r>
            <a:endParaRPr lang="en-US" sz="1100" dirty="0"/>
          </a:p>
        </p:txBody>
      </p:sp>
      <p:sp>
        <p:nvSpPr>
          <p:cNvPr id="28" name="Shape 26"/>
          <p:cNvSpPr/>
          <p:nvPr/>
        </p:nvSpPr>
        <p:spPr>
          <a:xfrm>
            <a:off x="4892040" y="3456432"/>
            <a:ext cx="3840480" cy="1170432"/>
          </a:xfrm>
          <a:prstGeom prst="rect">
            <a:avLst/>
          </a:prstGeom>
          <a:solidFill>
            <a:srgbClr val="FFF5E8"/>
          </a:solidFill>
          <a:ln w="12700">
            <a:solidFill>
              <a:srgbClr val="EB5600"/>
            </a:solidFill>
            <a:prstDash val="solid"/>
          </a:ln>
        </p:spPr>
      </p:sp>
      <p:sp>
        <p:nvSpPr>
          <p:cNvPr id="29" name="Text 27"/>
          <p:cNvSpPr txBox="1"/>
          <p:nvPr/>
        </p:nvSpPr>
        <p:spPr>
          <a:xfrm>
            <a:off x="5056632" y="3511296"/>
            <a:ext cx="3511296" cy="274320"/>
          </a:xfrm>
          <a:prstGeom prst="rect">
            <a:avLst/>
          </a:prstGeom>
          <a:noFill/>
          <a:ln/>
        </p:spPr>
        <p:txBody>
          <a:bodyPr wrap="square" lIns="0" tIns="0" rIns="0" bIns="0" rtlCol="0" anchor="t"/>
          <a:lstStyle/>
          <a:p>
            <a:pPr indent="0" marL="0">
              <a:buNone/>
            </a:pPr>
            <a:r>
              <a:rPr lang="en-US" sz="1300" b="1" dirty="0">
                <a:solidFill>
                  <a:srgbClr val="EB5600"/>
                </a:solidFill>
                <a:latin typeface="Open Sans" pitchFamily="34" charset="0"/>
                <a:ea typeface="Open Sans" pitchFamily="34" charset="-122"/>
                <a:cs typeface="Open Sans" pitchFamily="34" charset="-120"/>
              </a:rPr>
              <a:t>Laboratories</a:t>
            </a:r>
            <a:endParaRPr lang="en-US" sz="1300" dirty="0"/>
          </a:p>
        </p:txBody>
      </p:sp>
      <p:sp>
        <p:nvSpPr>
          <p:cNvPr id="30" name="Text 28"/>
          <p:cNvSpPr txBox="1"/>
          <p:nvPr/>
        </p:nvSpPr>
        <p:spPr>
          <a:xfrm>
            <a:off x="5056632" y="3785616"/>
            <a:ext cx="3511296" cy="82296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A1A1A"/>
                </a:solidFill>
                <a:latin typeface="Open Sans" pitchFamily="34" charset="0"/>
                <a:ea typeface="Open Sans" pitchFamily="34" charset="-122"/>
                <a:cs typeface="Open Sans" pitchFamily="34" charset="-120"/>
              </a:rPr>
              <a:t>Offensive labs on BYOD; defensive, cloud and forensic labs on cloud-hosted ranges</a:t>
            </a:r>
            <a:endParaRPr lang="en-US" sz="1100" dirty="0"/>
          </a:p>
          <a:p>
            <a:pPr marL="342900" indent="-342900">
              <a:buSzPct val="100000"/>
              <a:buChar char="•"/>
            </a:pPr>
            <a:r>
              <a:rPr lang="en-US" sz="1100" dirty="0">
                <a:solidFill>
                  <a:srgbClr val="1A1A1A"/>
                </a:solidFill>
                <a:latin typeface="Open Sans" pitchFamily="34" charset="0"/>
                <a:ea typeface="Open Sans" pitchFamily="34" charset="-122"/>
                <a:cs typeface="Open Sans" pitchFamily="34" charset="-120"/>
              </a:rPr>
              <a:t>AWS Academy, EC-Council partnership; dedicated facility requested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Risks we would rather name first</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III - HOW WE DELIVER</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11</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353312"/>
          <a:ext cx="8321040" cy="914400"/>
        </p:xfrm>
        <a:graphic>
          <a:graphicData uri="http://schemas.openxmlformats.org/drawingml/2006/table">
            <a:tbl>
              <a:tblPr/>
              <a:tblGrid>
                <a:gridCol w="1600200"/>
                <a:gridCol w="2514600"/>
                <a:gridCol w="3200400"/>
                <a:gridCol w="1005840"/>
              </a:tblGrid>
              <a:tr h="292608">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Risk</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Evidence today</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Mitigation</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Owner</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1A"/>
                    </a:solidFill>
                  </a:tcPr>
                </a:tc>
              </a:tr>
              <a:tr h="438912">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Price untested</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No fee question; 40% would need a loan or scholarship</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Fee-band question before any forecast; explore employer sponsorship (2 yes, 4 maybe)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NIBM</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Staff approval</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Panel delivers the UG stream; Essex approves each teacher by name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CV pack for every module leader and supervisor, ready on request</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NIBM, Essex</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No dedicated facility yet</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BYOD and cloud labs; physical facility requested, pending</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Cloud-first launch; physical lab as phase two</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NIBM</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Essex Online overlap</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Online MSc sold into Sri Lanka at about LKR 5.9 million</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Different segment: locally priced cohort with labs; buyers who cannot reach the online fee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Joint</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NCSC scope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Campus MSc provisionally certified to Sep 2027; franchise scope unknown</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Confirm what may be claimed locally; no claim until confirmed</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Essex</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7A5230"/>
                          </a:solidFill>
                          <a:latin typeface="Open Sans" pitchFamily="34" charset="0"/>
                          <a:ea typeface="Open Sans" pitchFamily="34" charset="-122"/>
                          <a:cs typeface="Open Sans" pitchFamily="34" charset="-120"/>
                        </a:rPr>
                        <a:t>Bridge cost and criteria</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ISC2 free CC route closed May 2026; criteria are Essex's to approve</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Lane two priced by NIBM; lane one criteria proposed for Essex approval</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NIBM, Essex</a:t>
                      </a:r>
                      <a:endParaRPr lang="en-US" sz="1100" dirty="0">
                        <a:latin typeface="Open Sans" charset="0"/>
                        <a:ea typeface="Open Sans" charset="0"/>
                        <a:cs typeface="Open Sans" charset="0"/>
                      </a:endParaRPr>
                    </a:p>
                  </a:txBody>
                  <a:tcPr marL="45720" marR="4572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Scale, and what we ask</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III - HOW WE DELIVER</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12</a:t>
            </a:r>
            <a:endParaRPr lang="en-US" sz="1100" dirty="0"/>
          </a:p>
        </p:txBody>
      </p:sp>
      <p:graphicFrame>
        <p:nvGraphicFramePr>
          <p:cNvPr id="8" name="Chart 0" descr=""/>
          <p:cNvGraphicFramePr/>
          <p:nvPr/>
        </p:nvGraphicFramePr>
        <p:xfrm>
          <a:off x="411480" y="1307592"/>
          <a:ext cx="4297680" cy="23774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02920" y="3776472"/>
            <a:ext cx="4206240" cy="822960"/>
          </a:xfrm>
          <a:prstGeom prst="rect">
            <a:avLst/>
          </a:prstGeom>
          <a:noFill/>
          <a:ln/>
        </p:spPr>
        <p:txBody>
          <a:bodyPr wrap="square" lIns="0" tIns="0" rIns="0" bIns="0" rtlCol="0" anchor="t"/>
          <a:lstStyle/>
          <a:p>
            <a:pPr indent="0" marL="0">
              <a:buNone/>
            </a:pPr>
            <a:r>
              <a:rPr lang="en-US" sz="1100" dirty="0">
                <a:solidFill>
                  <a:srgbClr val="595959"/>
                </a:solidFill>
                <a:latin typeface="Open Sans" pitchFamily="34" charset="0"/>
                <a:ea typeface="Open Sans" pitchFamily="34" charset="-122"/>
                <a:cs typeface="Open Sans" pitchFamily="34" charset="-120"/>
              </a:rPr>
              <a:t>Indicative places per intake at NIBM Colombo; alumni, professionals, the growing direct lane and regional campuses not counted; not price-tested. No local route today combines a UK award, certification standing, supervised labs and an evening-and-weekend timetable.</a:t>
            </a:r>
            <a:endParaRPr lang="en-US" sz="1100" dirty="0"/>
          </a:p>
        </p:txBody>
      </p:sp>
      <p:sp>
        <p:nvSpPr>
          <p:cNvPr id="10" name="Shape 7"/>
          <p:cNvSpPr/>
          <p:nvPr/>
        </p:nvSpPr>
        <p:spPr>
          <a:xfrm>
            <a:off x="4983480" y="1353312"/>
            <a:ext cx="3749040" cy="3264408"/>
          </a:xfrm>
          <a:prstGeom prst="rect">
            <a:avLst/>
          </a:prstGeom>
          <a:solidFill>
            <a:srgbClr val="EB5600"/>
          </a:solidFill>
          <a:ln/>
        </p:spPr>
      </p:sp>
      <p:sp>
        <p:nvSpPr>
          <p:cNvPr id="11" name="Text 8"/>
          <p:cNvSpPr txBox="1"/>
          <p:nvPr/>
        </p:nvSpPr>
        <p:spPr>
          <a:xfrm>
            <a:off x="5184648" y="1490472"/>
            <a:ext cx="3346704" cy="320040"/>
          </a:xfrm>
          <a:prstGeom prst="rect">
            <a:avLst/>
          </a:prstGeom>
          <a:noFill/>
          <a:ln/>
        </p:spPr>
        <p:txBody>
          <a:bodyPr wrap="square" lIns="0" tIns="0" rIns="0" bIns="0" rtlCol="0" anchor="t"/>
          <a:lstStyle/>
          <a:p>
            <a:pPr indent="0" marL="0">
              <a:buNone/>
            </a:pPr>
            <a:r>
              <a:rPr lang="en-US" sz="1600" b="1" dirty="0">
                <a:solidFill>
                  <a:srgbClr val="FFFFFF"/>
                </a:solidFill>
                <a:latin typeface="Open Sans" pitchFamily="34" charset="0"/>
                <a:ea typeface="Open Sans" pitchFamily="34" charset="-122"/>
                <a:cs typeface="Open Sans" pitchFamily="34" charset="-120"/>
              </a:rPr>
              <a:t>What we ask of Essex</a:t>
            </a:r>
            <a:endParaRPr lang="en-US" sz="1600" dirty="0"/>
          </a:p>
        </p:txBody>
      </p:sp>
      <p:sp>
        <p:nvSpPr>
          <p:cNvPr id="12" name="Text 9"/>
          <p:cNvSpPr txBox="1"/>
          <p:nvPr/>
        </p:nvSpPr>
        <p:spPr>
          <a:xfrm>
            <a:off x="5184648" y="1920240"/>
            <a:ext cx="3346704" cy="2560320"/>
          </a:xfrm>
          <a:prstGeom prst="rect">
            <a:avLst/>
          </a:prstGeom>
          <a:noFill/>
          <a:ln/>
        </p:spPr>
        <p:txBody>
          <a:bodyPr wrap="square" lIns="0" tIns="0" rIns="0" bIns="0" rtlCol="0" anchor="t"/>
          <a:lstStyle/>
          <a:p>
            <a:pPr indent="0" marL="0">
              <a:spcAft>
                <a:spcPts val="1000"/>
              </a:spcAft>
              <a:buNone/>
            </a:pPr>
            <a:r>
              <a:rPr lang="en-US" sz="1400" b="1" dirty="0">
                <a:solidFill>
                  <a:srgbClr val="FFFFFF"/>
                </a:solidFill>
                <a:latin typeface="Open Sans" pitchFamily="34" charset="0"/>
                <a:ea typeface="Open Sans" pitchFamily="34" charset="-122"/>
                <a:cs typeface="Open Sans" pitchFamily="34" charset="-120"/>
              </a:rPr>
              <a:t>1.  Agreement in principle to scope a franchise of the MSc with PgDip exit</a:t>
            </a:r>
            <a:endParaRPr lang="en-US" sz="1400" dirty="0"/>
          </a:p>
          <a:p>
            <a:pPr indent="0" marL="0">
              <a:spcAft>
                <a:spcPts val="1000"/>
              </a:spcAft>
              <a:buNone/>
            </a:pPr>
            <a:r>
              <a:rPr lang="en-US" sz="1400" b="1" dirty="0">
                <a:solidFill>
                  <a:srgbClr val="FFFFFF"/>
                </a:solidFill>
                <a:latin typeface="Open Sans" pitchFamily="34" charset="0"/>
                <a:ea typeface="Open Sans" pitchFamily="34" charset="-122"/>
                <a:cs typeface="Open Sans" pitchFamily="34" charset="-120"/>
              </a:rPr>
              <a:t>2.  Exchange of due-diligence packs: our evidence repository for your partner requirements</a:t>
            </a:r>
            <a:endParaRPr lang="en-US" sz="1400" dirty="0"/>
          </a:p>
          <a:p>
            <a:pPr indent="0" marL="0">
              <a:buNone/>
            </a:pPr>
            <a:r>
              <a:rPr lang="en-US" sz="1400" b="1" dirty="0">
                <a:solidFill>
                  <a:srgbClr val="FFFFFF"/>
                </a:solidFill>
                <a:latin typeface="Open Sans" pitchFamily="34" charset="0"/>
                <a:ea typeface="Open Sans" pitchFamily="34" charset="-122"/>
                <a:cs typeface="Open Sans" pitchFamily="34" charset="-120"/>
              </a:rPr>
              <a:t>3.  A joint scoping visit to Colombo within the next quarter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F5EDE0"/>
          </a:solidFill>
          <a:ln/>
        </p:spPr>
      </p:sp>
      <p:sp>
        <p:nvSpPr>
          <p:cNvPr id="3" name="Text 1"/>
          <p:cNvSpPr txBox="1"/>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1A1A1A"/>
                </a:solidFill>
                <a:latin typeface="Open Sans" pitchFamily="34" charset="0"/>
                <a:ea typeface="Open Sans" pitchFamily="34" charset="-122"/>
                <a:cs typeface="Open Sans" pitchFamily="34" charset="-120"/>
              </a:rPr>
              <a:t>Sources and methods</a:t>
            </a:r>
            <a:endParaRPr lang="en-US" sz="2400" dirty="0"/>
          </a:p>
        </p:txBody>
      </p:sp>
      <p:sp>
        <p:nvSpPr>
          <p:cNvPr id="4" name="Shape 2"/>
          <p:cNvSpPr/>
          <p:nvPr/>
        </p:nvSpPr>
        <p:spPr>
          <a:xfrm>
            <a:off x="411480" y="1124712"/>
            <a:ext cx="502920" cy="64008"/>
          </a:xfrm>
          <a:prstGeom prst="rect">
            <a:avLst/>
          </a:prstGeom>
          <a:solidFill>
            <a:srgbClr val="7A5230"/>
          </a:solidFill>
          <a:ln/>
        </p:spPr>
      </p:sp>
      <p:sp>
        <p:nvSpPr>
          <p:cNvPr id="5" name="Shape 3"/>
          <p:cNvSpPr/>
          <p:nvPr/>
        </p:nvSpPr>
        <p:spPr>
          <a:xfrm>
            <a:off x="960120" y="1124712"/>
            <a:ext cx="256032" cy="64008"/>
          </a:xfrm>
          <a:prstGeom prst="rect">
            <a:avLst/>
          </a:prstGeom>
          <a:solidFill>
            <a:srgbClr val="EB5600"/>
          </a:solidFill>
          <a:ln/>
        </p:spPr>
      </p:sp>
      <p:sp>
        <p:nvSpPr>
          <p:cNvPr id="6" name="Text 4"/>
          <p:cNvSpPr txBox="1"/>
          <p:nvPr/>
        </p:nvSpPr>
        <p:spPr>
          <a:xfrm>
            <a:off x="411480" y="4828032"/>
            <a:ext cx="4114800" cy="228600"/>
          </a:xfrm>
          <a:prstGeom prst="rect">
            <a:avLst/>
          </a:prstGeom>
          <a:noFill/>
          <a:ln/>
        </p:spPr>
        <p:txBody>
          <a:bodyPr wrap="square" lIns="0" tIns="0" rIns="0" bIns="0" rtlCol="0" anchor="t"/>
          <a:lstStyle/>
          <a:p>
            <a:pPr indent="0" marL="0">
              <a:buNone/>
            </a:pPr>
            <a:r>
              <a:rPr lang="en-US" sz="1100" b="1" spc="100" kern="0" dirty="0">
                <a:solidFill>
                  <a:srgbClr val="A07848"/>
                </a:solidFill>
                <a:latin typeface="Open Sans" pitchFamily="34" charset="0"/>
                <a:ea typeface="Open Sans" pitchFamily="34" charset="-122"/>
                <a:cs typeface="Open Sans" pitchFamily="34" charset="-120"/>
              </a:rPr>
              <a:t>ACT III - HOW WE DELIVER</a:t>
            </a:r>
            <a:endParaRPr lang="en-US" sz="1100" dirty="0"/>
          </a:p>
        </p:txBody>
      </p:sp>
      <p:sp>
        <p:nvSpPr>
          <p:cNvPr id="7" name="Text 5"/>
          <p:cNvSpPr txBox="1"/>
          <p:nvPr/>
        </p:nvSpPr>
        <p:spPr>
          <a:xfrm>
            <a:off x="3657600" y="4828032"/>
            <a:ext cx="5074920" cy="228600"/>
          </a:xfrm>
          <a:prstGeom prst="rect">
            <a:avLst/>
          </a:prstGeom>
          <a:noFill/>
          <a:ln/>
        </p:spPr>
        <p:txBody>
          <a:bodyPr wrap="square" lIns="0" tIns="0" rIns="0" bIns="0" rtlCol="0" anchor="t"/>
          <a:lstStyle/>
          <a:p>
            <a:pPr algn="r" indent="0" marL="0">
              <a:buNone/>
            </a:pPr>
            <a:r>
              <a:rPr lang="en-US" sz="1100" dirty="0">
                <a:solidFill>
                  <a:srgbClr val="595959"/>
                </a:solidFill>
                <a:latin typeface="Open Sans" pitchFamily="34" charset="0"/>
                <a:ea typeface="Open Sans" pitchFamily="34" charset="-122"/>
                <a:cs typeface="Open Sans" pitchFamily="34" charset="-120"/>
              </a:rPr>
              <a:t>NIBM SOCE - Proposal to the University of Essex - September 2026   13</a:t>
            </a:r>
            <a:endParaRPr lang="en-US" sz="1100" dirty="0"/>
          </a:p>
        </p:txBody>
      </p:sp>
      <p:sp>
        <p:nvSpPr>
          <p:cNvPr id="8" name="Shape 6"/>
          <p:cNvSpPr/>
          <p:nvPr/>
        </p:nvSpPr>
        <p:spPr>
          <a:xfrm>
            <a:off x="411480" y="1353312"/>
            <a:ext cx="8321040" cy="493776"/>
          </a:xfrm>
          <a:prstGeom prst="rect">
            <a:avLst/>
          </a:prstGeom>
          <a:solidFill>
            <a:srgbClr val="F9F0E4"/>
          </a:solidFill>
          <a:ln w="6350">
            <a:solidFill>
              <a:srgbClr val="CCCCCC"/>
            </a:solidFill>
            <a:prstDash val="solid"/>
          </a:ln>
        </p:spPr>
      </p:sp>
      <p:sp>
        <p:nvSpPr>
          <p:cNvPr id="9" name="Text 7"/>
          <p:cNvSpPr txBox="1"/>
          <p:nvPr/>
        </p:nvSpPr>
        <p:spPr>
          <a:xfrm>
            <a:off x="548640" y="1389888"/>
            <a:ext cx="2103120" cy="420624"/>
          </a:xfrm>
          <a:prstGeom prst="rect">
            <a:avLst/>
          </a:prstGeom>
          <a:noFill/>
          <a:ln/>
        </p:spPr>
        <p:txBody>
          <a:bodyPr wrap="square" lIns="0" tIns="0" rIns="0" bIns="0" rtlCol="0" anchor="ctr"/>
          <a:lstStyle/>
          <a:p>
            <a:pPr indent="0" marL="0">
              <a:buNone/>
            </a:pPr>
            <a:r>
              <a:rPr lang="en-US" sz="1200" b="1" dirty="0">
                <a:solidFill>
                  <a:srgbClr val="7A5230"/>
                </a:solidFill>
                <a:latin typeface="Open Sans" pitchFamily="34" charset="0"/>
                <a:ea typeface="Open Sans" pitchFamily="34" charset="-122"/>
                <a:cs typeface="Open Sans" pitchFamily="34" charset="-120"/>
              </a:rPr>
              <a:t>Survey A, students and graduates</a:t>
            </a:r>
            <a:endParaRPr lang="en-US" sz="1200" dirty="0"/>
          </a:p>
        </p:txBody>
      </p:sp>
      <p:sp>
        <p:nvSpPr>
          <p:cNvPr id="10" name="Text 8"/>
          <p:cNvSpPr txBox="1"/>
          <p:nvPr/>
        </p:nvSpPr>
        <p:spPr>
          <a:xfrm>
            <a:off x="2743200" y="1380744"/>
            <a:ext cx="5852160" cy="438912"/>
          </a:xfrm>
          <a:prstGeom prst="rect">
            <a:avLst/>
          </a:prstGeom>
          <a:noFill/>
          <a:ln/>
        </p:spPr>
        <p:txBody>
          <a:bodyPr wrap="square" lIns="0" tIns="0" rIns="0" bIns="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Microsoft Forms, 6 items, anonymous, fielded 22 to 24 Sep 2026 within NIBM, n = 57. Convenience sample, no population denominator, no fee question. 86% current undergraduates. Purchase-intent weighting stated on each figure.</a:t>
            </a:r>
            <a:endParaRPr lang="en-US" sz="1100" dirty="0"/>
          </a:p>
        </p:txBody>
      </p:sp>
      <p:sp>
        <p:nvSpPr>
          <p:cNvPr id="11" name="Shape 9"/>
          <p:cNvSpPr/>
          <p:nvPr/>
        </p:nvSpPr>
        <p:spPr>
          <a:xfrm>
            <a:off x="411480" y="1901952"/>
            <a:ext cx="8321040" cy="493776"/>
          </a:xfrm>
          <a:prstGeom prst="rect">
            <a:avLst/>
          </a:prstGeom>
          <a:solidFill>
            <a:srgbClr val="FFFFFF"/>
          </a:solidFill>
          <a:ln w="6350">
            <a:solidFill>
              <a:srgbClr val="CCCCCC"/>
            </a:solidFill>
            <a:prstDash val="solid"/>
          </a:ln>
        </p:spPr>
      </p:sp>
      <p:sp>
        <p:nvSpPr>
          <p:cNvPr id="12" name="Text 10"/>
          <p:cNvSpPr txBox="1"/>
          <p:nvPr/>
        </p:nvSpPr>
        <p:spPr>
          <a:xfrm>
            <a:off x="548640" y="1938528"/>
            <a:ext cx="2103120" cy="420624"/>
          </a:xfrm>
          <a:prstGeom prst="rect">
            <a:avLst/>
          </a:prstGeom>
          <a:noFill/>
          <a:ln/>
        </p:spPr>
        <p:txBody>
          <a:bodyPr wrap="square" lIns="0" tIns="0" rIns="0" bIns="0" rtlCol="0" anchor="ctr"/>
          <a:lstStyle/>
          <a:p>
            <a:pPr indent="0" marL="0">
              <a:buNone/>
            </a:pPr>
            <a:r>
              <a:rPr lang="en-US" sz="1200" b="1" dirty="0">
                <a:solidFill>
                  <a:srgbClr val="7A5230"/>
                </a:solidFill>
                <a:latin typeface="Open Sans" pitchFamily="34" charset="0"/>
                <a:ea typeface="Open Sans" pitchFamily="34" charset="-122"/>
                <a:cs typeface="Open Sans" pitchFamily="34" charset="-120"/>
              </a:rPr>
              <a:t>Survey B, industry and external academics</a:t>
            </a:r>
            <a:endParaRPr lang="en-US" sz="1200" dirty="0"/>
          </a:p>
        </p:txBody>
      </p:sp>
      <p:sp>
        <p:nvSpPr>
          <p:cNvPr id="13" name="Text 11"/>
          <p:cNvSpPr txBox="1"/>
          <p:nvPr/>
        </p:nvSpPr>
        <p:spPr>
          <a:xfrm>
            <a:off x="2743200" y="1929384"/>
            <a:ext cx="5852160" cy="438912"/>
          </a:xfrm>
          <a:prstGeom prst="rect">
            <a:avLst/>
          </a:prstGeom>
          <a:noFill/>
          <a:ln/>
        </p:spPr>
        <p:txBody>
          <a:bodyPr wrap="square" lIns="0" tIns="0" rIns="0" bIns="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Microsoft Forms, 9 items, named, fielded 22 to 24 Sep 2026, n = 7. Purposive sample of senior practitioners and academics already engaged with NIBM. Qualitative evidence; quoted by sector only, pending attribution consent.</a:t>
            </a:r>
            <a:endParaRPr lang="en-US" sz="1100" dirty="0"/>
          </a:p>
        </p:txBody>
      </p:sp>
      <p:sp>
        <p:nvSpPr>
          <p:cNvPr id="14" name="Shape 12"/>
          <p:cNvSpPr/>
          <p:nvPr/>
        </p:nvSpPr>
        <p:spPr>
          <a:xfrm>
            <a:off x="411480" y="2450592"/>
            <a:ext cx="8321040" cy="493776"/>
          </a:xfrm>
          <a:prstGeom prst="rect">
            <a:avLst/>
          </a:prstGeom>
          <a:solidFill>
            <a:srgbClr val="F9F0E4"/>
          </a:solidFill>
          <a:ln w="6350">
            <a:solidFill>
              <a:srgbClr val="CCCCCC"/>
            </a:solidFill>
            <a:prstDash val="solid"/>
          </a:ln>
        </p:spPr>
      </p:sp>
      <p:sp>
        <p:nvSpPr>
          <p:cNvPr id="15" name="Text 13"/>
          <p:cNvSpPr txBox="1"/>
          <p:nvPr/>
        </p:nvSpPr>
        <p:spPr>
          <a:xfrm>
            <a:off x="548640" y="2487168"/>
            <a:ext cx="2103120" cy="420624"/>
          </a:xfrm>
          <a:prstGeom prst="rect">
            <a:avLst/>
          </a:prstGeom>
          <a:noFill/>
          <a:ln/>
        </p:spPr>
        <p:txBody>
          <a:bodyPr wrap="square" lIns="0" tIns="0" rIns="0" bIns="0" rtlCol="0" anchor="ctr"/>
          <a:lstStyle/>
          <a:p>
            <a:pPr indent="0" marL="0">
              <a:buNone/>
            </a:pPr>
            <a:r>
              <a:rPr lang="en-US" sz="1200" b="1" dirty="0">
                <a:solidFill>
                  <a:srgbClr val="7A5230"/>
                </a:solidFill>
                <a:latin typeface="Open Sans" pitchFamily="34" charset="0"/>
                <a:ea typeface="Open Sans" pitchFamily="34" charset="-122"/>
                <a:cs typeface="Open Sans" pitchFamily="34" charset="-120"/>
              </a:rPr>
              <a:t>NIBM institutional facts</a:t>
            </a:r>
            <a:endParaRPr lang="en-US" sz="1200" dirty="0"/>
          </a:p>
        </p:txBody>
      </p:sp>
      <p:sp>
        <p:nvSpPr>
          <p:cNvPr id="16" name="Text 14"/>
          <p:cNvSpPr txBox="1"/>
          <p:nvPr/>
        </p:nvSpPr>
        <p:spPr>
          <a:xfrm>
            <a:off x="2743200" y="2478024"/>
            <a:ext cx="5852160" cy="438912"/>
          </a:xfrm>
          <a:prstGeom prst="rect">
            <a:avLst/>
          </a:prstGeom>
          <a:noFill/>
          <a:ln/>
        </p:spPr>
        <p:txBody>
          <a:bodyPr wrap="square" lIns="0" tIns="0" rIns="0" bIns="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NIBM Law No. 23 of 1976; SOCE website (soce.nibm.ac.lk); SOCE convocation records Mar 2024 to Sep 2026 and year-3 intake records Nov 2024 to Nov 2026.</a:t>
            </a:r>
            <a:endParaRPr lang="en-US" sz="1100" dirty="0"/>
          </a:p>
        </p:txBody>
      </p:sp>
      <p:sp>
        <p:nvSpPr>
          <p:cNvPr id="17" name="Shape 15"/>
          <p:cNvSpPr/>
          <p:nvPr/>
        </p:nvSpPr>
        <p:spPr>
          <a:xfrm>
            <a:off x="411480" y="2999232"/>
            <a:ext cx="8321040" cy="493776"/>
          </a:xfrm>
          <a:prstGeom prst="rect">
            <a:avLst/>
          </a:prstGeom>
          <a:solidFill>
            <a:srgbClr val="FFFFFF"/>
          </a:solidFill>
          <a:ln w="6350">
            <a:solidFill>
              <a:srgbClr val="CCCCCC"/>
            </a:solidFill>
            <a:prstDash val="solid"/>
          </a:ln>
        </p:spPr>
      </p:sp>
      <p:sp>
        <p:nvSpPr>
          <p:cNvPr id="18" name="Text 16"/>
          <p:cNvSpPr txBox="1"/>
          <p:nvPr/>
        </p:nvSpPr>
        <p:spPr>
          <a:xfrm>
            <a:off x="548640" y="3035808"/>
            <a:ext cx="2103120" cy="420624"/>
          </a:xfrm>
          <a:prstGeom prst="rect">
            <a:avLst/>
          </a:prstGeom>
          <a:noFill/>
          <a:ln/>
        </p:spPr>
        <p:txBody>
          <a:bodyPr wrap="square" lIns="0" tIns="0" rIns="0" bIns="0" rtlCol="0" anchor="ctr"/>
          <a:lstStyle/>
          <a:p>
            <a:pPr indent="0" marL="0">
              <a:buNone/>
            </a:pPr>
            <a:r>
              <a:rPr lang="en-US" sz="1200" b="1" dirty="0">
                <a:solidFill>
                  <a:srgbClr val="7A5230"/>
                </a:solidFill>
                <a:latin typeface="Open Sans" pitchFamily="34" charset="0"/>
                <a:ea typeface="Open Sans" pitchFamily="34" charset="-122"/>
                <a:cs typeface="Open Sans" pitchFamily="34" charset="-120"/>
              </a:rPr>
              <a:t>University of Essex</a:t>
            </a:r>
            <a:endParaRPr lang="en-US" sz="1200" dirty="0"/>
          </a:p>
        </p:txBody>
      </p:sp>
      <p:sp>
        <p:nvSpPr>
          <p:cNvPr id="19" name="Text 17"/>
          <p:cNvSpPr txBox="1"/>
          <p:nvPr/>
        </p:nvSpPr>
        <p:spPr>
          <a:xfrm>
            <a:off x="2743200" y="3026664"/>
            <a:ext cx="5852160" cy="438912"/>
          </a:xfrm>
          <a:prstGeom prst="rect">
            <a:avLst/>
          </a:prstGeom>
          <a:noFill/>
          <a:ln/>
        </p:spPr>
        <p:txBody>
          <a:bodyPr wrap="square" lIns="0" tIns="0" rIns="0" bIns="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Partnerships framework ("Our approach to new partnerships"); MSc Cyber Security course page and fees; Essex Online award structure, fees and entry criteria; REF 2021 research power (THE measure).</a:t>
            </a:r>
            <a:endParaRPr lang="en-US" sz="1100" dirty="0"/>
          </a:p>
        </p:txBody>
      </p:sp>
      <p:sp>
        <p:nvSpPr>
          <p:cNvPr id="20" name="Shape 18"/>
          <p:cNvSpPr/>
          <p:nvPr/>
        </p:nvSpPr>
        <p:spPr>
          <a:xfrm>
            <a:off x="411480" y="3547872"/>
            <a:ext cx="8321040" cy="493776"/>
          </a:xfrm>
          <a:prstGeom prst="rect">
            <a:avLst/>
          </a:prstGeom>
          <a:solidFill>
            <a:srgbClr val="F9F0E4"/>
          </a:solidFill>
          <a:ln w="6350">
            <a:solidFill>
              <a:srgbClr val="CCCCCC"/>
            </a:solidFill>
            <a:prstDash val="solid"/>
          </a:ln>
        </p:spPr>
      </p:sp>
      <p:sp>
        <p:nvSpPr>
          <p:cNvPr id="21" name="Text 19"/>
          <p:cNvSpPr txBox="1"/>
          <p:nvPr/>
        </p:nvSpPr>
        <p:spPr>
          <a:xfrm>
            <a:off x="548640" y="3584448"/>
            <a:ext cx="2103120" cy="420624"/>
          </a:xfrm>
          <a:prstGeom prst="rect">
            <a:avLst/>
          </a:prstGeom>
          <a:noFill/>
          <a:ln/>
        </p:spPr>
        <p:txBody>
          <a:bodyPr wrap="square" lIns="0" tIns="0" rIns="0" bIns="0" rtlCol="0" anchor="ctr"/>
          <a:lstStyle/>
          <a:p>
            <a:pPr indent="0" marL="0">
              <a:buNone/>
            </a:pPr>
            <a:r>
              <a:rPr lang="en-US" sz="1200" b="1" dirty="0">
                <a:solidFill>
                  <a:srgbClr val="7A5230"/>
                </a:solidFill>
                <a:latin typeface="Open Sans" pitchFamily="34" charset="0"/>
                <a:ea typeface="Open Sans" pitchFamily="34" charset="-122"/>
                <a:cs typeface="Open Sans" pitchFamily="34" charset="-120"/>
              </a:rPr>
              <a:t>Competitive landscape</a:t>
            </a:r>
            <a:endParaRPr lang="en-US" sz="1200" dirty="0"/>
          </a:p>
        </p:txBody>
      </p:sp>
      <p:sp>
        <p:nvSpPr>
          <p:cNvPr id="22" name="Text 20"/>
          <p:cNvSpPr txBox="1"/>
          <p:nvPr/>
        </p:nvSpPr>
        <p:spPr>
          <a:xfrm>
            <a:off x="2743200" y="3575304"/>
            <a:ext cx="5852160" cy="438912"/>
          </a:xfrm>
          <a:prstGeom prst="rect">
            <a:avLst/>
          </a:prstGeom>
          <a:noFill/>
          <a:ln/>
        </p:spPr>
        <p:txBody>
          <a:bodyPr wrap="square" lIns="0" tIns="0" rIns="0" bIns="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NIBM competitor matrix, Sep 2026; NCSC certified degrees list (May 2026); Complete University Guide and Guardian league tables, 2026 editions.</a:t>
            </a:r>
            <a:endParaRPr lang="en-US" sz="1100" dirty="0"/>
          </a:p>
        </p:txBody>
      </p:sp>
      <p:sp>
        <p:nvSpPr>
          <p:cNvPr id="23" name="Shape 21"/>
          <p:cNvSpPr/>
          <p:nvPr/>
        </p:nvSpPr>
        <p:spPr>
          <a:xfrm>
            <a:off x="411480" y="4096512"/>
            <a:ext cx="8321040" cy="493776"/>
          </a:xfrm>
          <a:prstGeom prst="rect">
            <a:avLst/>
          </a:prstGeom>
          <a:solidFill>
            <a:srgbClr val="FFFFFF"/>
          </a:solidFill>
          <a:ln w="6350">
            <a:solidFill>
              <a:srgbClr val="CCCCCC"/>
            </a:solidFill>
            <a:prstDash val="solid"/>
          </a:ln>
        </p:spPr>
      </p:sp>
      <p:sp>
        <p:nvSpPr>
          <p:cNvPr id="24" name="Text 22"/>
          <p:cNvSpPr txBox="1"/>
          <p:nvPr/>
        </p:nvSpPr>
        <p:spPr>
          <a:xfrm>
            <a:off x="548640" y="4133088"/>
            <a:ext cx="2103120" cy="420624"/>
          </a:xfrm>
          <a:prstGeom prst="rect">
            <a:avLst/>
          </a:prstGeom>
          <a:noFill/>
          <a:ln/>
        </p:spPr>
        <p:txBody>
          <a:bodyPr wrap="square" lIns="0" tIns="0" rIns="0" bIns="0" rtlCol="0" anchor="ctr"/>
          <a:lstStyle/>
          <a:p>
            <a:pPr indent="0" marL="0">
              <a:buNone/>
            </a:pPr>
            <a:r>
              <a:rPr lang="en-US" sz="1200" b="1" dirty="0">
                <a:solidFill>
                  <a:srgbClr val="7A5230"/>
                </a:solidFill>
                <a:latin typeface="Open Sans" pitchFamily="34" charset="0"/>
                <a:ea typeface="Open Sans" pitchFamily="34" charset="-122"/>
                <a:cs typeface="Open Sans" pitchFamily="34" charset="-120"/>
              </a:rPr>
              <a:t>Market and economy</a:t>
            </a:r>
            <a:endParaRPr lang="en-US" sz="1200" dirty="0"/>
          </a:p>
        </p:txBody>
      </p:sp>
      <p:sp>
        <p:nvSpPr>
          <p:cNvPr id="25" name="Text 23"/>
          <p:cNvSpPr txBox="1"/>
          <p:nvPr/>
        </p:nvSpPr>
        <p:spPr>
          <a:xfrm>
            <a:off x="2743200" y="4123944"/>
            <a:ext cx="5852160" cy="438912"/>
          </a:xfrm>
          <a:prstGeom prst="rect">
            <a:avLst/>
          </a:prstGeom>
          <a:noFill/>
          <a:ln/>
        </p:spPr>
        <p:txBody>
          <a:bodyPr wrap="square" lIns="0" tIns="0" rIns="0" bIns="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GBP/LKR rates (OFX, Aug 2026); ITPro.lk salary guide 2026; Ceylon Today, 12 Apr 2026 (SLASSCOM graduate figures); The Examiner, 15 May 2026 (IFS layoffs); ISC2, 22 Apr 2026 (end of free CC programme).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7A5230"/>
          </a:solidFill>
          <a:ln/>
        </p:spPr>
      </p:sp>
      <p:sp>
        <p:nvSpPr>
          <p:cNvPr id="3" name="Shape 1"/>
          <p:cNvSpPr/>
          <p:nvPr/>
        </p:nvSpPr>
        <p:spPr>
          <a:xfrm>
            <a:off x="6263640" y="1874520"/>
            <a:ext cx="2651760" cy="86868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6355080" y="1993392"/>
            <a:ext cx="2468880" cy="621792"/>
          </a:xfrm>
          <a:prstGeom prst="rect">
            <a:avLst/>
          </a:prstGeom>
        </p:spPr>
      </p:pic>
      <p:sp>
        <p:nvSpPr>
          <p:cNvPr id="5" name="Text 2"/>
          <p:cNvSpPr txBox="1"/>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1A1A1A"/>
                </a:solidFill>
                <a:latin typeface="Open Sans" pitchFamily="34" charset="0"/>
                <a:ea typeface="Open Sans" pitchFamily="34" charset="-122"/>
                <a:cs typeface="Open Sans" pitchFamily="34" charset="-120"/>
              </a:rPr>
              <a:t>Questions &amp;</a:t>
            </a:r>
            <a:endParaRPr lang="en-US" sz="4800" dirty="0"/>
          </a:p>
        </p:txBody>
      </p:sp>
      <p:sp>
        <p:nvSpPr>
          <p:cNvPr id="6" name="Text 3"/>
          <p:cNvSpPr txBox="1"/>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7A5230"/>
                </a:solidFill>
                <a:latin typeface="Open Sans" pitchFamily="34" charset="0"/>
                <a:ea typeface="Open Sans" pitchFamily="34" charset="-122"/>
                <a:cs typeface="Open Sans" pitchFamily="34" charset="-120"/>
              </a:rPr>
              <a:t>Discussion</a:t>
            </a:r>
            <a:endParaRPr lang="en-US" sz="4800" dirty="0"/>
          </a:p>
        </p:txBody>
      </p:sp>
      <p:sp>
        <p:nvSpPr>
          <p:cNvPr id="7" name="Shape 4"/>
          <p:cNvSpPr/>
          <p:nvPr/>
        </p:nvSpPr>
        <p:spPr>
          <a:xfrm>
            <a:off x="384048" y="2852928"/>
            <a:ext cx="749808" cy="73152"/>
          </a:xfrm>
          <a:prstGeom prst="rect">
            <a:avLst/>
          </a:prstGeom>
          <a:solidFill>
            <a:srgbClr val="7A5230"/>
          </a:solidFill>
          <a:ln/>
        </p:spPr>
      </p:sp>
      <p:sp>
        <p:nvSpPr>
          <p:cNvPr id="8" name="Shape 5"/>
          <p:cNvSpPr/>
          <p:nvPr/>
        </p:nvSpPr>
        <p:spPr>
          <a:xfrm>
            <a:off x="1188720" y="2852928"/>
            <a:ext cx="384048" cy="73152"/>
          </a:xfrm>
          <a:prstGeom prst="rect">
            <a:avLst/>
          </a:prstGeom>
          <a:solidFill>
            <a:srgbClr val="EB5600"/>
          </a:solidFill>
          <a:ln/>
        </p:spPr>
      </p:sp>
      <p:sp>
        <p:nvSpPr>
          <p:cNvPr id="9" name="Text 6"/>
          <p:cNvSpPr txBox="1"/>
          <p:nvPr/>
        </p:nvSpPr>
        <p:spPr>
          <a:xfrm>
            <a:off x="384048" y="3035808"/>
            <a:ext cx="5303520" cy="658368"/>
          </a:xfrm>
          <a:prstGeom prst="rect">
            <a:avLst/>
          </a:prstGeom>
          <a:noFill/>
          <a:ln/>
        </p:spPr>
        <p:txBody>
          <a:bodyPr wrap="square" lIns="0" tIns="0" rIns="0" bIns="0" rtlCol="0" anchor="t"/>
          <a:lstStyle/>
          <a:p>
            <a:pPr indent="0" marL="0">
              <a:buNone/>
            </a:pPr>
            <a:r>
              <a:rPr lang="en-US" sz="1600" i="1" dirty="0">
                <a:solidFill>
                  <a:srgbClr val="595959"/>
                </a:solidFill>
                <a:latin typeface="Open Sans" pitchFamily="34" charset="0"/>
                <a:ea typeface="Open Sans" pitchFamily="34" charset="-122"/>
                <a:cs typeface="Open Sans" pitchFamily="34" charset="-120"/>
              </a:rPr>
              <a:t>The evidence pack behind every figure is available to the Essex partnerships team on request.</a:t>
            </a:r>
            <a:endParaRPr lang="en-US" sz="1600" dirty="0"/>
          </a:p>
        </p:txBody>
      </p:sp>
      <p:sp>
        <p:nvSpPr>
          <p:cNvPr id="10" name="Text 7"/>
          <p:cNvSpPr txBox="1"/>
          <p:nvPr/>
        </p:nvSpPr>
        <p:spPr>
          <a:xfrm>
            <a:off x="384048" y="4297680"/>
            <a:ext cx="5303520" cy="548640"/>
          </a:xfrm>
          <a:prstGeom prst="rect">
            <a:avLst/>
          </a:prstGeom>
          <a:noFill/>
          <a:ln/>
        </p:spPr>
        <p:txBody>
          <a:bodyPr wrap="square" lIns="0" tIns="0" rIns="0" bIns="0" rtlCol="0" anchor="t"/>
          <a:lstStyle/>
          <a:p>
            <a:pPr indent="0" marL="0">
              <a:buNone/>
            </a:pPr>
            <a:r>
              <a:rPr lang="en-US" sz="1300" dirty="0">
                <a:solidFill>
                  <a:srgbClr val="595959"/>
                </a:solidFill>
                <a:latin typeface="Open Sans" pitchFamily="34" charset="0"/>
                <a:ea typeface="Open Sans" pitchFamily="34" charset="-122"/>
                <a:cs typeface="Open Sans" pitchFamily="34" charset="-120"/>
              </a:rPr>
              <a:t>Niranga Dharmaratna - niranga@nibm.lk</a:t>
            </a:r>
            <a:endParaRPr lang="en-US" sz="1300" dirty="0"/>
          </a:p>
          <a:p>
            <a:pPr indent="0" marL="0">
              <a:buNone/>
            </a:pPr>
            <a:r>
              <a:rPr lang="en-US" sz="1300" dirty="0">
                <a:solidFill>
                  <a:srgbClr val="595959"/>
                </a:solidFill>
                <a:latin typeface="Open Sans" pitchFamily="34" charset="0"/>
                <a:ea typeface="Open Sans" pitchFamily="34" charset="-122"/>
                <a:cs typeface="Open Sans" pitchFamily="34" charset="-120"/>
              </a:rPr>
              <a:t>School of Computing and Engineering, NIBM, Colombo 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MSc Cyber Security at NIBM - Business case for the University of Essex</dc:title>
  <dc:subject>PptxGenJS Presentation</dc:subject>
  <dc:creator>Niranga Dharmaratna</dc:creator>
  <cp:lastModifiedBy>Niranga Dharmaratna</cp:lastModifiedBy>
  <cp:revision>1</cp:revision>
  <dcterms:created xsi:type="dcterms:W3CDTF">2026-09-23T07:34:23Z</dcterms:created>
  <dcterms:modified xsi:type="dcterms:W3CDTF">2026-09-23T07:34:23Z</dcterms:modified>
</cp:coreProperties>
</file>